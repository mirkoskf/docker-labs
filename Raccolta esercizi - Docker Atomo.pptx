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30"/>
  </p:notesMasterIdLst>
  <p:handoutMasterIdLst>
    <p:handoutMasterId r:id="rId31"/>
  </p:handoutMasterIdLst>
  <p:sldIdLst>
    <p:sldId id="262" r:id="rId5"/>
    <p:sldId id="259" r:id="rId6"/>
    <p:sldId id="258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61" r:id="rId2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1FE2"/>
    <a:srgbClr val="0C0C0D"/>
    <a:srgbClr val="FFD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33" autoAdjust="0"/>
    <p:restoredTop sz="92907" autoAdjust="0"/>
  </p:normalViewPr>
  <p:slideViewPr>
    <p:cSldViewPr snapToGrid="0" showGuides="1">
      <p:cViewPr varScale="1">
        <p:scale>
          <a:sx n="151" d="100"/>
          <a:sy n="151" d="100"/>
        </p:scale>
        <p:origin x="192" y="15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56" d="100"/>
          <a:sy n="56" d="100"/>
        </p:scale>
        <p:origin x="190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8BF59EF6-0FF4-3C26-C2BB-DB4C8164691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A684938-E2E5-17C8-EF87-D39DC23A0CE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67D21-D55F-4A7B-94FF-7608FD989819}" type="datetimeFigureOut">
              <a:rPr lang="it-IT" smtClean="0"/>
              <a:t>14/06/2026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1588DC1-54E0-DA10-6330-B5B85E54BE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BF496F1-A8FC-84F6-A381-661BDD027C8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1F2323-8915-4474-89BB-0944B80755B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5145869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B2B73-14A8-482F-9803-A95CC73B5B34}" type="datetimeFigureOut">
              <a:rPr lang="it-IT" smtClean="0"/>
              <a:t>14/06/2026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FDE81-C331-4896-AC61-55381248B1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6805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8FDE81-C331-4896-AC61-55381248B14B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7248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pic>
        <p:nvPicPr>
          <p:cNvPr id="3" name="Logo">
            <a:extLst>
              <a:ext uri="{FF2B5EF4-FFF2-40B4-BE49-F238E27FC236}">
                <a16:creationId xmlns:a16="http://schemas.microsoft.com/office/drawing/2014/main" id="{4C834844-A2F7-AC9C-2087-6061FCF61E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38E5D1B6-A890-892D-9858-91BBCF4C4D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3160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olo della 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3BCE473-8FC3-9F4F-E292-BFC28ABE7B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100000"/>
                    </a14:imgEffect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498" b="7498"/>
          <a:stretch/>
        </p:blipFill>
        <p:spPr>
          <a:xfrm>
            <a:off x="8" y="4"/>
            <a:ext cx="12191984" cy="6857991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6FDB36-122C-6ED3-0E68-A0444075919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49604" y="2315869"/>
            <a:ext cx="2692791" cy="5580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j-ea"/>
                <a:cs typeface="+mj-cs"/>
              </a:defRPr>
            </a:lvl1pPr>
          </a:lstStyle>
          <a:p>
            <a:r>
              <a:rPr lang="it-IT" dirty="0"/>
              <a:t>Lezione 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0F8F589-6BFD-59A4-6E34-32CA9C30E50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38200" y="3152912"/>
            <a:ext cx="10515600" cy="6728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chemeClr val="bg1"/>
                </a:solidFill>
                <a:latin typeface="Neue Haas Grotesk Display Pro" panose="020D0304030502050203" pitchFamily="34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TITOLO DELLA LEZIONE</a:t>
            </a:r>
          </a:p>
        </p:txBody>
      </p:sp>
      <p:sp>
        <p:nvSpPr>
          <p:cNvPr id="7" name="Autore">
            <a:extLst>
              <a:ext uri="{FF2B5EF4-FFF2-40B4-BE49-F238E27FC236}">
                <a16:creationId xmlns:a16="http://schemas.microsoft.com/office/drawing/2014/main" id="{21C9F551-AFE9-0973-2117-C6CBF8585A06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bg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C4425D4D-A67B-8DB9-9A03-E768C2FD3E3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lum bright="100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  <p:sp>
        <p:nvSpPr>
          <p:cNvPr id="13" name="Segnaposto numero diapositiva 6" hidden="1">
            <a:extLst>
              <a:ext uri="{FF2B5EF4-FFF2-40B4-BE49-F238E27FC236}">
                <a16:creationId xmlns:a16="http://schemas.microsoft.com/office/drawing/2014/main" id="{F8AAF250-B3FA-F808-9996-FA310B7EEA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4" name="object 2">
            <a:extLst>
              <a:ext uri="{FF2B5EF4-FFF2-40B4-BE49-F238E27FC236}">
                <a16:creationId xmlns:a16="http://schemas.microsoft.com/office/drawing/2014/main" id="{481FF4BB-6EC3-F2A7-6542-58D51086A02D}"/>
              </a:ext>
            </a:extLst>
          </p:cNvPr>
          <p:cNvPicPr preferRelativeResize="0"/>
          <p:nvPr userDrawn="1"/>
        </p:nvPicPr>
        <p:blipFill rotWithShape="1">
          <a:blip r:embed="rId6" cstate="print"/>
          <a:srcRect l="1386" t="187" r="342" b="95555"/>
          <a:stretch/>
        </p:blipFill>
        <p:spPr>
          <a:xfrm>
            <a:off x="0" y="0"/>
            <a:ext cx="12191992" cy="20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28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rgbClr val="171FE2"/>
                </a:solidFill>
                <a:latin typeface="Neue Haas Grotesk Text Pro" panose="020B0504020202020204" pitchFamily="34" charset="0"/>
              </a:defRPr>
            </a:lvl1pPr>
          </a:lstStyle>
          <a:p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Contenuto della lezione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rgbClr val="171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Mirko Onorato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562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Laborato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5DB3A6F7-B730-F638-2762-1FD1042E5DD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DB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698DC6F-CD43-0811-A979-B271C0C3A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206"/>
            <a:ext cx="10515600" cy="314198"/>
          </a:xfrm>
          <a:prstGeom prst="rect">
            <a:avLst/>
          </a:prstGeom>
        </p:spPr>
        <p:txBody>
          <a:bodyPr/>
          <a:lstStyle>
            <a:lvl1pPr>
              <a:defRPr sz="2200" b="1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r>
              <a:rPr lang="it-IT" dirty="0"/>
              <a:t>Titolo del laboratorio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2E0480-F66A-DF55-F8D6-E7F6741750C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488" y="1399311"/>
            <a:ext cx="11355024" cy="48033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Neue Haas Grotesk Text Pro" panose="020B0504020202020204" pitchFamily="34" charset="0"/>
              </a:defRPr>
            </a:lvl1pPr>
          </a:lstStyle>
          <a:p>
            <a:pPr lvl="0"/>
            <a:r>
              <a:rPr lang="it-IT" dirty="0"/>
              <a:t>Traccia del laboratorio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F14CEF-205B-0C08-0A06-82B44009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E4DB6AF-4CA5-F1AF-60DE-4AC9236D4298}"/>
              </a:ext>
            </a:extLst>
          </p:cNvPr>
          <p:cNvSpPr/>
          <p:nvPr userDrawn="1"/>
        </p:nvSpPr>
        <p:spPr>
          <a:xfrm>
            <a:off x="0" y="-2"/>
            <a:ext cx="12192000" cy="17919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590B833C-D2A8-59BC-D3D6-DC5153499B29}"/>
              </a:ext>
            </a:extLst>
          </p:cNvPr>
          <p:cNvSpPr txBox="1"/>
          <p:nvPr userDrawn="1"/>
        </p:nvSpPr>
        <p:spPr>
          <a:xfrm>
            <a:off x="9435948" y="349177"/>
            <a:ext cx="2337564" cy="15837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95"/>
              </a:spcBef>
              <a:tabLst>
                <a:tab pos="982980" algn="l"/>
              </a:tabLst>
            </a:pPr>
            <a:r>
              <a:rPr lang="it-IT" sz="950" b="1" spc="300" dirty="0">
                <a:solidFill>
                  <a:schemeClr val="tx1"/>
                </a:solidFill>
                <a:latin typeface="Arial"/>
                <a:cs typeface="Arial"/>
              </a:rPr>
              <a:t>Autore: Nome Cognome</a:t>
            </a:r>
            <a:endParaRPr lang="it-IT" sz="950" spc="3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pic>
        <p:nvPicPr>
          <p:cNvPr id="9" name="Elemento grafico 8">
            <a:extLst>
              <a:ext uri="{FF2B5EF4-FFF2-40B4-BE49-F238E27FC236}">
                <a16:creationId xmlns:a16="http://schemas.microsoft.com/office/drawing/2014/main" id="{545164C9-21E1-0EF7-17C2-2E5528B7FC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488" y="285335"/>
            <a:ext cx="2211023" cy="314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784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1288546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fondo">
            <a:extLst>
              <a:ext uri="{FF2B5EF4-FFF2-40B4-BE49-F238E27FC236}">
                <a16:creationId xmlns:a16="http://schemas.microsoft.com/office/drawing/2014/main" id="{3151B56A-A6F1-5CFE-90D4-C91637CA43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8" name="bg object 16">
              <a:extLst>
                <a:ext uri="{FF2B5EF4-FFF2-40B4-BE49-F238E27FC236}">
                  <a16:creationId xmlns:a16="http://schemas.microsoft.com/office/drawing/2014/main" id="{F245C0BF-8E93-514B-6EA0-0DB46DDE199E}"/>
                </a:ext>
              </a:extLst>
            </p:cNvPr>
            <p:cNvPicPr/>
            <p:nvPr userDrawn="1"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9" name="Sfondo nero">
              <a:extLst>
                <a:ext uri="{FF2B5EF4-FFF2-40B4-BE49-F238E27FC236}">
                  <a16:creationId xmlns:a16="http://schemas.microsoft.com/office/drawing/2014/main" id="{7E15F8EB-6BFE-6BE4-8488-2A37B82D22A6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A234C8D3-EBFE-A5AB-FBEC-506345C26835}"/>
              </a:ext>
            </a:extLst>
          </p:cNvPr>
          <p:cNvSpPr txBox="1">
            <a:spLocks/>
          </p:cNvSpPr>
          <p:nvPr userDrawn="1"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914400" rtl="0" eaLnBrk="1" latinLnBrk="0" hangingPunct="1">
              <a:defRPr sz="1400" kern="1200">
                <a:solidFill>
                  <a:schemeClr val="tx1"/>
                </a:solidFill>
                <a:latin typeface="Neue Haas Grotesk Text Pro" panose="020B05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1" name="Logo">
            <a:extLst>
              <a:ext uri="{FF2B5EF4-FFF2-40B4-BE49-F238E27FC236}">
                <a16:creationId xmlns:a16="http://schemas.microsoft.com/office/drawing/2014/main" id="{6DDC59E2-35B7-B79B-0CDA-5FE67578D34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4735" y="2446545"/>
            <a:ext cx="5342528" cy="620212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E295F674-D64B-ECCA-4DA2-D47F8EABE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98283" y="3791244"/>
            <a:ext cx="7995432" cy="535518"/>
          </a:xfrm>
          <a:prstGeom prst="rect">
            <a:avLst/>
          </a:prstGeom>
        </p:spPr>
        <p:txBody>
          <a:bodyPr anchor="ctr"/>
          <a:lstStyle>
            <a:lvl1pPr algn="ctr">
              <a:defRPr sz="3600" b="1" spc="300">
                <a:solidFill>
                  <a:schemeClr val="bg1"/>
                </a:solidFill>
                <a:latin typeface="Neue Haas Grotesk Display Pro" panose="020D0304030502050203" pitchFamily="34" charset="0"/>
              </a:defRPr>
            </a:lvl1pPr>
          </a:lstStyle>
          <a:p>
            <a:r>
              <a:rPr lang="it-IT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736105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Sfondo">
            <a:extLst>
              <a:ext uri="{FF2B5EF4-FFF2-40B4-BE49-F238E27FC236}">
                <a16:creationId xmlns:a16="http://schemas.microsoft.com/office/drawing/2014/main" id="{0871CBC8-6163-D253-2648-0C5B2A35DADC}"/>
              </a:ext>
            </a:extLst>
          </p:cNvPr>
          <p:cNvGrpSpPr/>
          <p:nvPr userDrawn="1"/>
        </p:nvGrpSpPr>
        <p:grpSpPr>
          <a:xfrm>
            <a:off x="0" y="0"/>
            <a:ext cx="12191999" cy="6857998"/>
            <a:chOff x="0" y="0"/>
            <a:chExt cx="12191999" cy="6857998"/>
          </a:xfrm>
        </p:grpSpPr>
        <p:pic>
          <p:nvPicPr>
            <p:cNvPr id="7" name="bg object 16">
              <a:extLst>
                <a:ext uri="{FF2B5EF4-FFF2-40B4-BE49-F238E27FC236}">
                  <a16:creationId xmlns:a16="http://schemas.microsoft.com/office/drawing/2014/main" id="{D3B481F3-FDD2-E9B0-AAF0-6B05C97B7493}"/>
                </a:ext>
              </a:extLst>
            </p:cNvPr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0" y="0"/>
              <a:ext cx="12191999" cy="6857998"/>
            </a:xfrm>
            <a:prstGeom prst="rect">
              <a:avLst/>
            </a:prstGeom>
          </p:spPr>
        </p:pic>
        <p:sp>
          <p:nvSpPr>
            <p:cNvPr id="8" name="Sfondo nero">
              <a:extLst>
                <a:ext uri="{FF2B5EF4-FFF2-40B4-BE49-F238E27FC236}">
                  <a16:creationId xmlns:a16="http://schemas.microsoft.com/office/drawing/2014/main" id="{2B2124EE-D2EC-EB26-C788-2D1671E2C0D4}"/>
                </a:ext>
              </a:extLst>
            </p:cNvPr>
            <p:cNvSpPr/>
            <p:nvPr userDrawn="1"/>
          </p:nvSpPr>
          <p:spPr>
            <a:xfrm>
              <a:off x="228600" y="203061"/>
              <a:ext cx="11734800" cy="6451878"/>
            </a:xfrm>
            <a:custGeom>
              <a:avLst/>
              <a:gdLst/>
              <a:ahLst/>
              <a:cxnLst/>
              <a:rect l="l" t="t" r="r" b="b"/>
              <a:pathLst>
                <a:path w="11506200" h="6248400">
                  <a:moveTo>
                    <a:pt x="11506200" y="0"/>
                  </a:moveTo>
                  <a:lnTo>
                    <a:pt x="0" y="0"/>
                  </a:lnTo>
                  <a:lnTo>
                    <a:pt x="0" y="6248400"/>
                  </a:lnTo>
                  <a:lnTo>
                    <a:pt x="11506200" y="6248400"/>
                  </a:lnTo>
                  <a:lnTo>
                    <a:pt x="1150620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b="0" i="0" dirty="0">
                <a:latin typeface="Arial" panose="020B0604020202020204" pitchFamily="34" charset="0"/>
              </a:endParaRPr>
            </a:p>
          </p:txBody>
        </p:sp>
      </p:grpSp>
      <p:sp>
        <p:nvSpPr>
          <p:cNvPr id="6" name="Segnaposto numero diapositiva 5" hidden="1">
            <a:extLst>
              <a:ext uri="{FF2B5EF4-FFF2-40B4-BE49-F238E27FC236}">
                <a16:creationId xmlns:a16="http://schemas.microsoft.com/office/drawing/2014/main" id="{8BF62DA6-567D-9738-C9B4-B35130FB0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tx1"/>
                </a:solidFill>
                <a:latin typeface="Neue Haas Grotesk Text Pro" panose="020B0504020202020204" pitchFamily="34" charset="0"/>
              </a:defRPr>
            </a:lvl1pPr>
          </a:lstStyle>
          <a:p>
            <a:fld id="{EE05E91E-B103-4211-9892-B5CF4BF06646}" type="slidenum">
              <a:rPr lang="it-IT" smtClean="0"/>
              <a:pPr/>
              <a:t>‹N›</a:t>
            </a:fld>
            <a:endParaRPr lang="it-IT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08AF4DDA-AF5C-9192-0A90-B2EE16B1979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881312" y="3055807"/>
            <a:ext cx="6429375" cy="74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315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1" r:id="rId2"/>
    <p:sldLayoutId id="2147483674" r:id="rId3"/>
    <p:sldLayoutId id="2147483692" r:id="rId4"/>
    <p:sldLayoutId id="2147483678" r:id="rId5"/>
    <p:sldLayoutId id="214748369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9659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>
            <a:extLst>
              <a:ext uri="{FF2B5EF4-FFF2-40B4-BE49-F238E27FC236}">
                <a16:creationId xmlns:a16="http://schemas.microsoft.com/office/drawing/2014/main" id="{614AE908-95ED-7A3B-515A-275CA8318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2795046"/>
            <a:ext cx="10515600" cy="1445982"/>
          </a:xfrm>
        </p:spPr>
        <p:txBody>
          <a:bodyPr/>
          <a:lstStyle/>
          <a:p>
            <a:r>
              <a:rPr lang="it-IT" dirty="0"/>
              <a:t>Raccolta Docker Atomo</a:t>
            </a:r>
          </a:p>
          <a:p>
            <a:endParaRPr lang="it-IT" dirty="0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AC5512-E772-1D07-1956-6544F2732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05E91E-B103-4211-9892-B5CF4BF06646}" type="slidenum">
              <a:rPr lang="it-IT" smtClean="0">
                <a:solidFill>
                  <a:srgbClr val="0C0C0D"/>
                </a:solidFill>
              </a:rPr>
              <a:pPr/>
              <a:t>2</a:t>
            </a:fld>
            <a:endParaRPr lang="it-IT" dirty="0">
              <a:solidFill>
                <a:srgbClr val="0C0C0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793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C232A863-9AB2-F1DD-0EBE-01D055E0C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LAB 1: Il Ciclo di Vita dei Container e la "Mortalità" dei Dati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B7AE27A-7139-F647-C23C-B014C3A3B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Obiettivo</a:t>
            </a:r>
            <a:r>
              <a:rPr lang="it-IT" dirty="0"/>
              <a:t>: Dominare la CLI di Docker, comprendere la differenza tra i segnali di stop (SIGTERM vs SIGKILL) e toccare con mano la natura effimera dei container creando e distruggendo dati.</a:t>
            </a:r>
          </a:p>
          <a:p>
            <a:endParaRPr lang="it-IT" dirty="0"/>
          </a:p>
          <a:p>
            <a:r>
              <a:rPr lang="it-IT" b="1" dirty="0"/>
              <a:t>Traccia:</a:t>
            </a:r>
            <a:r>
              <a:rPr lang="it-IT" dirty="0"/>
              <a:t> L'azienda vi chiede di avviare tre server web isolati per testare tre versioni di un file HTML. Dovete scaricare l'immagine ufficiale di </a:t>
            </a:r>
            <a:r>
              <a:rPr lang="it-IT" dirty="0" err="1"/>
              <a:t>Nginx</a:t>
            </a:r>
            <a:r>
              <a:rPr lang="it-IT" dirty="0"/>
              <a:t>, avviarla in background su tre porte diverse e modificare una pagina interna. Successivamente, simulerete un crash distruttivo per capire dove vanno a finire le modifiche.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26178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ED170-517E-A7B3-61F9-49831DD74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B50A020B-A937-BF7D-E1FC-BAE63DDA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1. Pulizia Iniziale ed Elenco della Flotta</a:t>
            </a:r>
          </a:p>
          <a:p>
            <a:r>
              <a:rPr lang="it-IT" dirty="0"/>
              <a:t>Prima di iniziare, facciamo tabula rasa di vecchi container residui:</a:t>
            </a:r>
          </a:p>
          <a:p>
            <a:r>
              <a:rPr lang="sv-SE" dirty="0">
                <a:solidFill>
                  <a:srgbClr val="171FE2"/>
                </a:solidFill>
                <a:latin typeface="Consolas" panose="020B0609020204030204" pitchFamily="49" charset="0"/>
              </a:rPr>
              <a:t>docker rm -f $(docker ps -aq)</a:t>
            </a:r>
          </a:p>
          <a:p>
            <a:r>
              <a:rPr lang="it-IT" b="1" dirty="0"/>
              <a:t>2. Avvio coordinato su porte diverse</a:t>
            </a:r>
          </a:p>
          <a:p>
            <a:r>
              <a:rPr lang="it-IT" dirty="0"/>
              <a:t>Avviamo tre istanze di </a:t>
            </a:r>
            <a:r>
              <a:rPr lang="it-IT" dirty="0" err="1"/>
              <a:t>Nginx</a:t>
            </a:r>
            <a:r>
              <a:rPr lang="it-IT" dirty="0"/>
              <a:t> mappando le porte del PC Windows (8081, 8082, 8083) sulla porta standard interna 80 di </a:t>
            </a:r>
            <a:r>
              <a:rPr lang="it-IT" dirty="0" err="1"/>
              <a:t>Nginx</a:t>
            </a:r>
            <a:r>
              <a:rPr lang="it-IT" dirty="0"/>
              <a:t>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web-alfa -p 8081:80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web-beta -p 8082:80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web-gamma -p 8083:80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b="1" dirty="0"/>
              <a:t>3. Il blocco del Terminale (Cosa succede se dimenticano il flag -d?)</a:t>
            </a:r>
          </a:p>
          <a:p>
            <a:r>
              <a:rPr lang="it-IT" dirty="0"/>
              <a:t>Fai eseguire questo comando senza il flag -d: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--name web-bloccato -p 8084:80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Cosa succede: Il terminale si "inchioda" e mostra i log in tempo reale di </a:t>
            </a:r>
            <a:r>
              <a:rPr lang="it-IT" dirty="0" err="1"/>
              <a:t>Nginx</a:t>
            </a:r>
            <a:r>
              <a:rPr lang="it-IT" dirty="0"/>
              <a:t>.</a:t>
            </a:r>
          </a:p>
          <a:p>
            <a:r>
              <a:rPr lang="it-IT" dirty="0"/>
              <a:t>Senza -d (</a:t>
            </a:r>
            <a:r>
              <a:rPr lang="it-IT" dirty="0" err="1"/>
              <a:t>Detached</a:t>
            </a:r>
            <a:r>
              <a:rPr lang="it-IT" dirty="0"/>
              <a:t>), il container gira in </a:t>
            </a:r>
            <a:r>
              <a:rPr lang="it-IT" dirty="0" err="1"/>
              <a:t>Foreground</a:t>
            </a:r>
            <a:r>
              <a:rPr lang="it-IT" dirty="0"/>
              <a:t>. </a:t>
            </a:r>
          </a:p>
          <a:p>
            <a:r>
              <a:rPr lang="it-IT" dirty="0">
                <a:solidFill>
                  <a:srgbClr val="171FE2"/>
                </a:solidFill>
              </a:rPr>
              <a:t>Premere CTRL + C (che però invierà un segnale di spegnimento al container).</a:t>
            </a:r>
            <a:endParaRPr lang="sv-SE" dirty="0">
              <a:solidFill>
                <a:srgbClr val="171FE2"/>
              </a:solidFill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124584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5ACA7-900C-2ED8-3891-302CFDE84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A845CF70-F363-E597-AC17-2BEBEF0AA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4. Entriamo dentro il container a modificare il file (Senza Volumi)</a:t>
            </a:r>
          </a:p>
          <a:p>
            <a:r>
              <a:rPr lang="it-IT" dirty="0"/>
              <a:t>Entriamo nel file-system isolato del container web-alfa usando una sessione interattiva Bash/Sh: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exec -it web-alfa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sh</a:t>
            </a:r>
            <a:endParaRPr lang="en-US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l'opzione -</a:t>
            </a:r>
            <a:r>
              <a:rPr lang="it-IT" dirty="0" err="1"/>
              <a:t>it</a:t>
            </a:r>
            <a:r>
              <a:rPr lang="it-IT" dirty="0"/>
              <a:t> è in realtà la combinazione di due flag:</a:t>
            </a:r>
          </a:p>
          <a:p>
            <a:r>
              <a:rPr lang="it-IT" dirty="0"/>
              <a:t>-i (--interactive): mantiene aperto lo </a:t>
            </a:r>
            <a:r>
              <a:rPr lang="it-IT" b="1" dirty="0" err="1"/>
              <a:t>stdin</a:t>
            </a:r>
            <a:r>
              <a:rPr lang="it-IT" dirty="0"/>
              <a:t> del container, permettendoti di inserire comandi. </a:t>
            </a:r>
          </a:p>
          <a:p>
            <a:r>
              <a:rPr lang="it-IT" dirty="0"/>
              <a:t>-t (--</a:t>
            </a:r>
            <a:r>
              <a:rPr lang="it-IT" dirty="0" err="1"/>
              <a:t>tty</a:t>
            </a:r>
            <a:r>
              <a:rPr lang="it-IT" dirty="0"/>
              <a:t>): alloca un </a:t>
            </a:r>
            <a:r>
              <a:rPr lang="it-IT" b="1" dirty="0"/>
              <a:t>terminale virtuale (TTY)</a:t>
            </a:r>
            <a:r>
              <a:rPr lang="it-IT" dirty="0"/>
              <a:t>, così hai una shell interattiva con prompt, colori, gestione dei caratteri, ecc.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Il prompt cambia (es. #). Siamo dentro Linux </a:t>
            </a:r>
            <a:r>
              <a:rPr lang="it-IT" dirty="0" err="1"/>
              <a:t>Nginx</a:t>
            </a:r>
            <a:r>
              <a:rPr lang="it-IT" dirty="0"/>
              <a:t>. Modifichiamo la pagina iniziale "Welcome to </a:t>
            </a:r>
            <a:r>
              <a:rPr lang="it-IT" dirty="0" err="1"/>
              <a:t>Nginx</a:t>
            </a:r>
            <a:r>
              <a:rPr lang="it-IT" dirty="0"/>
              <a:t>":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echo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"&lt;h1&gt;Proprietà di Mirko - Versione Alfa sbloccata! 🚀&lt;/h1&gt;" &gt; 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/html/index.html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exit</a:t>
            </a:r>
          </a:p>
          <a:p>
            <a:r>
              <a:rPr lang="it-IT" i="1" dirty="0"/>
              <a:t>Verifica:</a:t>
            </a:r>
            <a:r>
              <a:rPr lang="it-IT" dirty="0"/>
              <a:t> Apri Chrome su http://localhost:8081. Vedrai la scritta personalizzata. Se vai su http://localhost:8082, vedrai la pagina standard. I due mondi sono isolati.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985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F3507-2CAB-86D6-A77D-1F7AABC8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F1C7866B-AE7A-D5B7-8829-1D56AFC70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5. Il Crash Test: Dimostrazione della natura effimera</a:t>
            </a:r>
          </a:p>
          <a:p>
            <a:r>
              <a:rPr lang="it-IT" dirty="0"/>
              <a:t>Ora simuliamo un crash distruttivo di web-alfa: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-f web-alfa</a:t>
            </a:r>
          </a:p>
          <a:p>
            <a:r>
              <a:rPr lang="it-IT" dirty="0"/>
              <a:t>Rilanciamo immediatamente lo stesso identico container con lo stesso comando:</a:t>
            </a:r>
          </a:p>
          <a:p>
            <a:r>
              <a:rPr lang="en-US" dirty="0">
                <a:solidFill>
                  <a:srgbClr val="171FE2"/>
                </a:solidFill>
                <a:latin typeface="Consolas" panose="020B0609020204030204" pitchFamily="49" charset="0"/>
              </a:rPr>
              <a:t>docker run -d --name web-alfa -p 8081:80 </a:t>
            </a:r>
            <a:r>
              <a:rPr lang="en-US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en-US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Fai aggiornare Chrome su http://localhost:8081. </a:t>
            </a:r>
            <a:r>
              <a:rPr lang="it-IT" b="1" dirty="0"/>
              <a:t>La modifica è sparita ed è tornato il "Welcome to </a:t>
            </a:r>
            <a:r>
              <a:rPr lang="it-IT" b="1" dirty="0" err="1"/>
              <a:t>Nginx</a:t>
            </a:r>
            <a:r>
              <a:rPr lang="it-IT" b="1" dirty="0"/>
              <a:t>" standard.</a:t>
            </a:r>
          </a:p>
          <a:p>
            <a:r>
              <a:rPr lang="it-IT" i="1" dirty="0"/>
              <a:t>I container sono per definizione </a:t>
            </a:r>
            <a:r>
              <a:rPr lang="it-IT" b="1" i="1" dirty="0"/>
              <a:t>effimeri (</a:t>
            </a:r>
            <a:r>
              <a:rPr lang="it-IT" b="1" i="1" dirty="0" err="1"/>
              <a:t>stateless</a:t>
            </a:r>
            <a:r>
              <a:rPr lang="it-IT" b="1" i="1" dirty="0"/>
              <a:t>)</a:t>
            </a:r>
            <a:r>
              <a:rPr lang="it-IT" i="1" dirty="0"/>
              <a:t>. Quando un container viene cancellato, il suo </a:t>
            </a:r>
            <a:r>
              <a:rPr lang="it-IT" i="1" dirty="0" err="1"/>
              <a:t>Writable</a:t>
            </a:r>
            <a:r>
              <a:rPr lang="it-IT" i="1" dirty="0"/>
              <a:t> Layer (lo strato di scrittura temporaneo) viene polverizzato dal Docker </a:t>
            </a:r>
            <a:r>
              <a:rPr lang="it-IT" i="1" dirty="0" err="1"/>
              <a:t>Daemon</a:t>
            </a:r>
            <a:r>
              <a:rPr lang="it-IT" i="1" dirty="0"/>
              <a:t>. Modificare i file direttamente dentro un container funzionante è il reato più grave per un ingegnere </a:t>
            </a:r>
            <a:r>
              <a:rPr lang="it-IT" i="1" dirty="0" err="1"/>
              <a:t>DevOps</a:t>
            </a:r>
            <a:r>
              <a:rPr lang="it-IT" i="1" dirty="0"/>
              <a:t>: al primo riavvio o aggiornamento dell'immagine, i dati del cliente sono persi per sempre."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01001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7CA0E-79B9-97D9-7B9A-9861B995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86D7261-D932-68E6-8F66-CDE5A0415C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736544"/>
            <a:ext cx="9557362" cy="4803369"/>
          </a:xfrm>
        </p:spPr>
        <p:txBody>
          <a:bodyPr/>
          <a:lstStyle/>
          <a:p>
            <a:r>
              <a:rPr lang="it-IT" dirty="0"/>
              <a:t>Il </a:t>
            </a:r>
            <a:r>
              <a:rPr lang="it-IT" b="1" dirty="0" err="1"/>
              <a:t>writable</a:t>
            </a:r>
            <a:r>
              <a:rPr lang="it-IT" b="1" dirty="0"/>
              <a:t> </a:t>
            </a:r>
            <a:r>
              <a:rPr lang="it-IT" b="1" dirty="0" err="1"/>
              <a:t>layer</a:t>
            </a:r>
            <a:r>
              <a:rPr lang="it-IT" dirty="0"/>
              <a:t> (o </a:t>
            </a:r>
            <a:r>
              <a:rPr lang="it-IT" i="1" dirty="0"/>
              <a:t>container </a:t>
            </a:r>
            <a:r>
              <a:rPr lang="it-IT" i="1" dirty="0" err="1"/>
              <a:t>layer</a:t>
            </a:r>
            <a:r>
              <a:rPr lang="it-IT" dirty="0"/>
              <a:t>) è il livello scrivibile che Docker aggiunge sopra i </a:t>
            </a:r>
            <a:r>
              <a:rPr lang="it-IT" dirty="0" err="1"/>
              <a:t>layer</a:t>
            </a:r>
            <a:r>
              <a:rPr lang="it-IT" dirty="0"/>
              <a:t> immutabili dell'immagine quando avvii un container.</a:t>
            </a:r>
          </a:p>
          <a:p>
            <a:r>
              <a:rPr lang="it-IT" b="1" dirty="0"/>
              <a:t>Come sono organizzati i </a:t>
            </a:r>
            <a:r>
              <a:rPr lang="it-IT" b="1" dirty="0" err="1"/>
              <a:t>layer</a:t>
            </a:r>
            <a:endParaRPr lang="it-IT" b="1" dirty="0"/>
          </a:p>
          <a:p>
            <a:r>
              <a:rPr lang="it-IT" dirty="0"/>
              <a:t>Un'immagine Docker è composta da più </a:t>
            </a:r>
            <a:r>
              <a:rPr lang="it-IT" dirty="0" err="1"/>
              <a:t>layer</a:t>
            </a:r>
            <a:r>
              <a:rPr lang="it-IT" dirty="0"/>
              <a:t> </a:t>
            </a:r>
            <a:r>
              <a:rPr lang="it-IT" b="1" dirty="0" err="1"/>
              <a:t>read-only</a:t>
            </a:r>
            <a:r>
              <a:rPr lang="it-IT" dirty="0"/>
              <a:t>:</a:t>
            </a:r>
          </a:p>
          <a:p>
            <a:r>
              <a:rPr lang="en-US" sz="1400" dirty="0"/>
              <a:t>Container</a:t>
            </a:r>
          </a:p>
          <a:p>
            <a:r>
              <a:rPr lang="en-US" sz="1400" dirty="0"/>
              <a:t>└── Writable Layer (</a:t>
            </a:r>
            <a:r>
              <a:rPr lang="en-US" sz="1400" dirty="0" err="1"/>
              <a:t>scrivibile</a:t>
            </a:r>
            <a:r>
              <a:rPr lang="en-US" sz="1400" dirty="0"/>
              <a:t>)</a:t>
            </a:r>
          </a:p>
          <a:p>
            <a:r>
              <a:rPr lang="en-US" sz="1400" dirty="0"/>
              <a:t>    ├── Layer </a:t>
            </a:r>
            <a:r>
              <a:rPr lang="en-US" sz="1400" dirty="0" err="1"/>
              <a:t>immagine</a:t>
            </a:r>
            <a:r>
              <a:rPr lang="en-US" sz="1400" dirty="0"/>
              <a:t> 3 (read-only)</a:t>
            </a:r>
          </a:p>
          <a:p>
            <a:r>
              <a:rPr lang="en-US" sz="1400" dirty="0"/>
              <a:t>    ├── Layer </a:t>
            </a:r>
            <a:r>
              <a:rPr lang="en-US" sz="1400" dirty="0" err="1"/>
              <a:t>immagine</a:t>
            </a:r>
            <a:r>
              <a:rPr lang="en-US" sz="1400" dirty="0"/>
              <a:t> 2 (read-only)</a:t>
            </a:r>
          </a:p>
          <a:p>
            <a:r>
              <a:rPr lang="en-US" sz="1400" dirty="0"/>
              <a:t>    └── Layer </a:t>
            </a:r>
            <a:r>
              <a:rPr lang="en-US" sz="1400" dirty="0" err="1"/>
              <a:t>immagine</a:t>
            </a:r>
            <a:r>
              <a:rPr lang="en-US" sz="1400" dirty="0"/>
              <a:t> 1 (read-only)</a:t>
            </a:r>
            <a:endParaRPr lang="it-IT" sz="1400" dirty="0"/>
          </a:p>
          <a:p>
            <a:r>
              <a:rPr lang="it-IT" dirty="0">
                <a:solidFill>
                  <a:srgbClr val="171FE2"/>
                </a:solidFill>
              </a:rPr>
              <a:t>Docker non modifica mai l'immagine originale, ma usa il meccanismo di </a:t>
            </a:r>
            <a:r>
              <a:rPr lang="it-IT" b="1" dirty="0">
                <a:solidFill>
                  <a:srgbClr val="171FE2"/>
                </a:solidFill>
              </a:rPr>
              <a:t>Copy-on-Write (</a:t>
            </a:r>
            <a:r>
              <a:rPr lang="it-IT" b="1" dirty="0" err="1">
                <a:solidFill>
                  <a:srgbClr val="171FE2"/>
                </a:solidFill>
              </a:rPr>
              <a:t>CoW</a:t>
            </a:r>
            <a:r>
              <a:rPr lang="it-IT" b="1" dirty="0">
                <a:solidFill>
                  <a:srgbClr val="171FE2"/>
                </a:solidFill>
              </a:rPr>
              <a:t>)</a:t>
            </a:r>
            <a:r>
              <a:rPr lang="it-IT" dirty="0">
                <a:solidFill>
                  <a:srgbClr val="171FE2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il file originale rimane nel </a:t>
            </a:r>
            <a:r>
              <a:rPr lang="it-IT" dirty="0" err="1"/>
              <a:t>layer</a:t>
            </a:r>
            <a:r>
              <a:rPr lang="it-IT" dirty="0"/>
              <a:t> </a:t>
            </a:r>
            <a:r>
              <a:rPr lang="it-IT" dirty="0" err="1"/>
              <a:t>read-only</a:t>
            </a:r>
            <a:r>
              <a:rPr lang="it-IT" dirty="0"/>
              <a:t>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viene copiata una versione nel </a:t>
            </a:r>
            <a:r>
              <a:rPr lang="it-IT" dirty="0" err="1"/>
              <a:t>writable</a:t>
            </a:r>
            <a:r>
              <a:rPr lang="it-IT" dirty="0"/>
              <a:t> </a:t>
            </a:r>
            <a:r>
              <a:rPr lang="it-IT" dirty="0" err="1"/>
              <a:t>layer</a:t>
            </a:r>
            <a:r>
              <a:rPr lang="it-IT" dirty="0"/>
              <a:t>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la modifica viene applicata alla copia;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da quel momento il container vede la versione modificata.</a:t>
            </a:r>
          </a:p>
          <a:p>
            <a:r>
              <a:rPr lang="it-IT" dirty="0"/>
              <a:t>Docker non può cancellare il file dal </a:t>
            </a:r>
            <a:r>
              <a:rPr lang="it-IT" dirty="0" err="1"/>
              <a:t>layer</a:t>
            </a:r>
            <a:r>
              <a:rPr lang="it-IT" dirty="0"/>
              <a:t> </a:t>
            </a:r>
            <a:r>
              <a:rPr lang="it-IT" dirty="0" err="1"/>
              <a:t>read-only</a:t>
            </a:r>
            <a:r>
              <a:rPr lang="it-IT" dirty="0"/>
              <a:t>.</a:t>
            </a:r>
          </a:p>
          <a:p>
            <a:r>
              <a:rPr lang="it-IT" dirty="0">
                <a:solidFill>
                  <a:srgbClr val="171FE2"/>
                </a:solidFill>
              </a:rPr>
              <a:t>Crea invece una speciale entry chiamata </a:t>
            </a:r>
            <a:r>
              <a:rPr lang="it-IT" b="1" dirty="0" err="1">
                <a:solidFill>
                  <a:srgbClr val="171FE2"/>
                </a:solidFill>
              </a:rPr>
              <a:t>whiteout</a:t>
            </a:r>
            <a:r>
              <a:rPr lang="it-IT" b="1" dirty="0">
                <a:solidFill>
                  <a:srgbClr val="171FE2"/>
                </a:solidFill>
              </a:rPr>
              <a:t> file</a:t>
            </a:r>
            <a:r>
              <a:rPr lang="it-IT" dirty="0">
                <a:solidFill>
                  <a:srgbClr val="171FE2"/>
                </a:solidFill>
              </a:rPr>
              <a:t> nel </a:t>
            </a:r>
            <a:r>
              <a:rPr lang="it-IT" dirty="0" err="1">
                <a:solidFill>
                  <a:srgbClr val="171FE2"/>
                </a:solidFill>
              </a:rPr>
              <a:t>writable</a:t>
            </a:r>
            <a:r>
              <a:rPr lang="it-IT" dirty="0">
                <a:solidFill>
                  <a:srgbClr val="171FE2"/>
                </a:solidFill>
              </a:rPr>
              <a:t> </a:t>
            </a:r>
            <a:r>
              <a:rPr lang="it-IT" dirty="0" err="1">
                <a:solidFill>
                  <a:srgbClr val="171FE2"/>
                </a:solidFill>
              </a:rPr>
              <a:t>layer</a:t>
            </a:r>
            <a:r>
              <a:rPr lang="it-IT" dirty="0">
                <a:solidFill>
                  <a:srgbClr val="171FE2"/>
                </a:solidFill>
              </a:rPr>
              <a:t> che "nasconde" il file originale.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66968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7189F-560D-F35F-1F81-A828E2BD1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5DCEDECC-6DE1-23A1-33D9-6F55B6F78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LAB 2: La Persistenza dei Dati – </a:t>
            </a:r>
            <a:r>
              <a:rPr lang="it-IT" dirty="0" err="1"/>
              <a:t>Named</a:t>
            </a:r>
            <a:r>
              <a:rPr lang="it-IT" dirty="0"/>
              <a:t> </a:t>
            </a:r>
            <a:r>
              <a:rPr lang="it-IT" dirty="0" err="1"/>
              <a:t>Volumes</a:t>
            </a:r>
            <a:r>
              <a:rPr lang="it-IT" dirty="0"/>
              <a:t> vs </a:t>
            </a:r>
            <a:r>
              <a:rPr lang="it-IT" dirty="0" err="1"/>
              <a:t>Bind</a:t>
            </a:r>
            <a:r>
              <a:rPr lang="it-IT" dirty="0"/>
              <a:t> </a:t>
            </a:r>
            <a:r>
              <a:rPr lang="it-IT" dirty="0" err="1"/>
              <a:t>Mounts</a:t>
            </a:r>
            <a:endParaRPr lang="it-IT" dirty="0"/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29B8ACD-8605-72B1-339B-6D9D8489A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Obiettivo: Risolvere la perdita dei dati del LAB 1. Padroneggiare i due sistemi di persistenza di Docker, capendo quando usare i Volumi (gestiti da Docker) e quando i </a:t>
            </a:r>
            <a:r>
              <a:rPr lang="it-IT" dirty="0" err="1"/>
              <a:t>Bind</a:t>
            </a:r>
            <a:r>
              <a:rPr lang="it-IT" dirty="0"/>
              <a:t> </a:t>
            </a:r>
            <a:r>
              <a:rPr lang="it-IT" dirty="0" err="1"/>
              <a:t>Mounts</a:t>
            </a:r>
            <a:r>
              <a:rPr lang="it-IT" dirty="0"/>
              <a:t> (cartelle di Windows).</a:t>
            </a:r>
          </a:p>
          <a:p>
            <a:r>
              <a:rPr lang="it-IT" b="1" dirty="0"/>
              <a:t>Traccia:</a:t>
            </a:r>
            <a:r>
              <a:rPr lang="it-IT" dirty="0"/>
              <a:t> Il vostro cliente non vuole più perdere i dati del sito in caso di crash. Dovete configurare due strategie: un </a:t>
            </a:r>
            <a:r>
              <a:rPr lang="it-IT" b="1" dirty="0" err="1"/>
              <a:t>Named</a:t>
            </a:r>
            <a:r>
              <a:rPr lang="it-IT" b="1" dirty="0"/>
              <a:t> Volume</a:t>
            </a:r>
            <a:r>
              <a:rPr lang="it-IT" dirty="0"/>
              <a:t> per i file di log di produzione e un </a:t>
            </a:r>
            <a:r>
              <a:rPr lang="it-IT" b="1" dirty="0" err="1"/>
              <a:t>Bind</a:t>
            </a:r>
            <a:r>
              <a:rPr lang="it-IT" b="1" dirty="0"/>
              <a:t> Mount</a:t>
            </a:r>
            <a:r>
              <a:rPr lang="it-IT" dirty="0"/>
              <a:t> per mappare una cartella del vostro Desktop Windows dentro il container, permettendovi di modificare il codice HTML da VS Code senza riavviare nulla.</a:t>
            </a:r>
          </a:p>
        </p:txBody>
      </p:sp>
    </p:spTree>
    <p:extLst>
      <p:ext uri="{BB962C8B-B14F-4D97-AF65-F5344CB8AC3E}">
        <p14:creationId xmlns:p14="http://schemas.microsoft.com/office/powerpoint/2010/main" val="53951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A7B9-DB08-8126-7289-446150F0C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350EB89-609C-8704-99EC-57DF51844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PARTE 1: La via Enterprise – Il </a:t>
            </a:r>
            <a:r>
              <a:rPr lang="it-IT" b="1" dirty="0" err="1"/>
              <a:t>Named</a:t>
            </a:r>
            <a:r>
              <a:rPr lang="it-IT" b="1" dirty="0"/>
              <a:t> Volume</a:t>
            </a:r>
          </a:p>
          <a:p>
            <a:r>
              <a:rPr lang="it-IT" dirty="0"/>
              <a:t>Creiamo uno spazio di archiviazione sicuro gestito interamente dal Docker </a:t>
            </a:r>
            <a:r>
              <a:rPr lang="it-IT" dirty="0" err="1"/>
              <a:t>Daemon</a:t>
            </a:r>
            <a:r>
              <a:rPr lang="it-IT" dirty="0"/>
              <a:t>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volume </a:t>
            </a:r>
            <a:r>
              <a:rPr lang="it-IT" dirty="0">
                <a:solidFill>
                  <a:srgbClr val="FF0000"/>
                </a:solidFill>
                <a:latin typeface="Consolas" panose="020B0609020204030204" pitchFamily="49" charset="0"/>
              </a:rPr>
              <a:t>create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dati-persistenti-web</a:t>
            </a:r>
          </a:p>
          <a:p>
            <a:r>
              <a:rPr lang="it-IT" dirty="0"/>
              <a:t>Ispezioniamo dove Docker nasconde questo volume: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volume </a:t>
            </a:r>
            <a:r>
              <a:rPr lang="it-IT" dirty="0" err="1">
                <a:solidFill>
                  <a:srgbClr val="FF0000"/>
                </a:solidFill>
                <a:latin typeface="Consolas" panose="020B0609020204030204" pitchFamily="49" charset="0"/>
              </a:rPr>
              <a:t>inspect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dati-persistenti-web</a:t>
            </a:r>
          </a:p>
          <a:p>
            <a:r>
              <a:rPr lang="it-IT" dirty="0"/>
              <a:t>Sotto la voce "</a:t>
            </a:r>
            <a:r>
              <a:rPr lang="it-IT" dirty="0" err="1"/>
              <a:t>Mountpoint</a:t>
            </a:r>
            <a:r>
              <a:rPr lang="it-IT" dirty="0"/>
              <a:t>", vedremo un percorso Linux (es. /var/</a:t>
            </a:r>
            <a:r>
              <a:rPr lang="it-IT" dirty="0" err="1"/>
              <a:t>lib</a:t>
            </a:r>
            <a:r>
              <a:rPr lang="it-IT" dirty="0"/>
              <a:t>/</a:t>
            </a:r>
            <a:r>
              <a:rPr lang="it-IT" dirty="0" err="1"/>
              <a:t>docker</a:t>
            </a:r>
            <a:r>
              <a:rPr lang="it-IT" dirty="0"/>
              <a:t>/</a:t>
            </a:r>
            <a:r>
              <a:rPr lang="it-IT" dirty="0" err="1"/>
              <a:t>volumes</a:t>
            </a:r>
            <a:r>
              <a:rPr lang="it-IT" dirty="0"/>
              <a:t>/...). Su Windows quel percorso si trova dentro la macchina virtuale nascosta di WSL2, non raggiungibile.</a:t>
            </a:r>
          </a:p>
          <a:p>
            <a:r>
              <a:rPr lang="it-IT" dirty="0"/>
              <a:t>Avviamo un nuovo container </a:t>
            </a:r>
            <a:r>
              <a:rPr lang="it-IT" dirty="0" err="1"/>
              <a:t>Nginx</a:t>
            </a:r>
            <a:r>
              <a:rPr lang="it-IT" dirty="0"/>
              <a:t> agganciando questo volume sulla cartella dei dati di </a:t>
            </a:r>
            <a:r>
              <a:rPr lang="it-IT" dirty="0" err="1"/>
              <a:t>Nginx</a:t>
            </a:r>
            <a:r>
              <a:rPr lang="it-IT" dirty="0"/>
              <a:t> (:/</a:t>
            </a:r>
            <a:r>
              <a:rPr lang="it-IT" dirty="0" err="1"/>
              <a:t>usr</a:t>
            </a:r>
            <a:r>
              <a:rPr lang="it-IT" dirty="0"/>
              <a:t>/share/</a:t>
            </a:r>
            <a:r>
              <a:rPr lang="it-IT" dirty="0" err="1"/>
              <a:t>nginx</a:t>
            </a:r>
            <a:r>
              <a:rPr lang="it-IT" dirty="0"/>
              <a:t>/html):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web-sicuro -p 8085:80 -v dati-persistenti-web:/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7049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9CB2B-9250-B2DD-021A-08529904C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CFF19BA8-7E1C-A908-FB0A-91996B37C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Scriviamo nel file index.html di </a:t>
            </a:r>
            <a:r>
              <a:rPr lang="it-IT" dirty="0" err="1"/>
              <a:t>Nginx</a:t>
            </a:r>
            <a:r>
              <a:rPr lang="it-IT" dirty="0"/>
              <a:t>, distruggiamo il container e verifichiamo la persistenza: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exec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it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web-sicuro sh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echo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"Ciao a tutti!!!" &gt; 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/html/index.html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exit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# Distruggiamo brutalmente il container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rm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-f web-sicuro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# Lo ricreiamo agganciando lo stesso volume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web-sicuro -p 8085:80 -v dati-persistenti-web:/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i="1" dirty="0"/>
              <a:t>Verifica:</a:t>
            </a:r>
            <a:r>
              <a:rPr lang="it-IT" dirty="0"/>
              <a:t> Su http://localhost:8085 la scritta c'è ancora! Il volume è sopravvissuto alla morte del container.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4744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9149C-F425-A5B8-76DF-7CB74667D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A546327-02BB-6CCB-54DE-6709D0930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PARTE 2: </a:t>
            </a:r>
            <a:r>
              <a:rPr lang="it-IT" dirty="0"/>
              <a:t>La via dello Sviluppatore – Il </a:t>
            </a:r>
            <a:r>
              <a:rPr lang="it-IT" dirty="0" err="1"/>
              <a:t>Bind</a:t>
            </a:r>
            <a:r>
              <a:rPr lang="it-IT" dirty="0"/>
              <a:t> Mount</a:t>
            </a:r>
          </a:p>
          <a:p>
            <a:r>
              <a:rPr lang="it-IT" dirty="0"/>
              <a:t>Creiamo una cartella sul Desktop Windows chiamata sito-web e dentro creiamo un file index.html con scritto: &lt;h1&gt;Sito in Sviluppo da Windows! 💻&lt;/h1&gt;.</a:t>
            </a:r>
          </a:p>
          <a:p>
            <a:r>
              <a:rPr lang="it-IT" b="1" dirty="0"/>
              <a:t>Ora colleghiamo direttamente la cartella fisica di Windows dentro il container</a:t>
            </a:r>
            <a:r>
              <a:rPr lang="it-IT" dirty="0"/>
              <a:t>. </a:t>
            </a:r>
          </a:p>
          <a:p>
            <a:r>
              <a:rPr lang="it-IT" dirty="0"/>
              <a:t>Spostiamoci da terminale sul Desktop: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cd C:\Users\mirko\Desktop\sito-web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web-developer -p 8086:80 -v ${PWD}:/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usr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/share/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/html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i="1" dirty="0"/>
              <a:t>Nota tecnica per te:</a:t>
            </a:r>
            <a:r>
              <a:rPr lang="it-IT" dirty="0"/>
              <a:t> Il flag -v ${PWD}:... prende la cartella corrente e la proietta nel container.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In alternativa: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web-developer -p 8086:80 -v C:\Users\mirko\Desktop\sito-web:/usr/share/nginx/html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nginx:latest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In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/>
              <a:t>questo modo le modifiche di codice fatte nella cartella di Windows si presentano nel container senza doverlo riavviare.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226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EA5A4-947E-6404-343F-20945335E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B74FDC5A-3F0C-B48A-90DA-8485910741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LAB 3: Il Networking Isolato – Comunicazione via DNS interno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3F6A557C-BD93-430C-0B5E-025CE75DB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Obiettivo</a:t>
            </a:r>
            <a:r>
              <a:rPr lang="it-IT" dirty="0"/>
              <a:t>: Capire perché la rete di default (bridge) non permette la comunicazione tramite nome del container e come le reti personalizzate attivino un server DNS interno automatico.</a:t>
            </a:r>
          </a:p>
          <a:p>
            <a:r>
              <a:rPr lang="it-IT" b="1" dirty="0"/>
              <a:t>Traccia:</a:t>
            </a:r>
            <a:r>
              <a:rPr lang="it-IT" dirty="0"/>
              <a:t> Avete un </a:t>
            </a:r>
            <a:r>
              <a:rPr lang="it-IT" dirty="0" err="1"/>
              <a:t>backend</a:t>
            </a:r>
            <a:r>
              <a:rPr lang="it-IT" dirty="0"/>
              <a:t> Python che deve inviare dati a un database </a:t>
            </a:r>
            <a:r>
              <a:rPr lang="it-IT" dirty="0" err="1"/>
              <a:t>MariaDB</a:t>
            </a:r>
            <a:r>
              <a:rPr lang="it-IT" dirty="0"/>
              <a:t>. Di default i container sono isolati. Dovete creare un'autostrada virtuale dedicata, connettere i due container usando i loro nomi logici.</a:t>
            </a:r>
          </a:p>
        </p:txBody>
      </p:sp>
    </p:spTree>
    <p:extLst>
      <p:ext uri="{BB962C8B-B14F-4D97-AF65-F5344CB8AC3E}">
        <p14:creationId xmlns:p14="http://schemas.microsoft.com/office/powerpoint/2010/main" val="2309863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E4D6B-7EC5-6D90-2102-8F7963F34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3CBD09AF-0D8A-DC74-8EDE-8E80F2A90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1. Il problema della comunicazione dei container su bridge</a:t>
            </a:r>
          </a:p>
          <a:p>
            <a:r>
              <a:rPr lang="it-IT" dirty="0"/>
              <a:t>Avviamo un database: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db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-standard -e MARIADB_ROOT_PASSWORD=pass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mariadb:latest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Ora chiediamo a Docker di mostrarci la mappa della rete standard (</a:t>
            </a:r>
            <a:r>
              <a:rPr lang="it-IT" b="1" dirty="0"/>
              <a:t>bridge</a:t>
            </a:r>
            <a:r>
              <a:rPr lang="it-IT" dirty="0"/>
              <a:t>):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network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inspect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bridge</a:t>
            </a:r>
          </a:p>
          <a:p>
            <a:r>
              <a:rPr lang="it-IT" dirty="0"/>
              <a:t>Scorrendo l'output fino alla sezione "Containers" vedremo </a:t>
            </a:r>
            <a:r>
              <a:rPr lang="it-IT" dirty="0" err="1"/>
              <a:t>db</a:t>
            </a:r>
            <a:r>
              <a:rPr lang="it-IT" dirty="0"/>
              <a:t>-standard con un IP numerico (es. 172.17.0.2):</a:t>
            </a:r>
          </a:p>
          <a:p>
            <a:r>
              <a:rPr lang="en-US" dirty="0"/>
              <a:t>"Containers": {</a:t>
            </a:r>
          </a:p>
          <a:p>
            <a:r>
              <a:rPr lang="en-US" dirty="0"/>
              <a:t>            "70ac4f93cd1427e40f4e83387557d48a509cd22ea95a00ed3a3884496ff70ba9": {</a:t>
            </a:r>
          </a:p>
          <a:p>
            <a:r>
              <a:rPr lang="en-US" dirty="0"/>
              <a:t>                "Name": "</a:t>
            </a:r>
            <a:r>
              <a:rPr lang="en-US" dirty="0" err="1"/>
              <a:t>db</a:t>
            </a:r>
            <a:r>
              <a:rPr lang="en-US" dirty="0"/>
              <a:t>-standard",</a:t>
            </a:r>
          </a:p>
          <a:p>
            <a:r>
              <a:rPr lang="en-US" dirty="0"/>
              <a:t>                "IPv4Address": "172.17.0.2/16",</a:t>
            </a:r>
          </a:p>
          <a:p>
            <a:r>
              <a:rPr lang="en-US" dirty="0"/>
              <a:t>	…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8146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B8674-7A27-2887-FBAD-9F7C2DF6F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A3B745B4-371B-A815-6A5B-F4BBCC7C3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Nell'ispezione della rete il nome '</a:t>
            </a:r>
            <a:r>
              <a:rPr lang="it-IT" dirty="0" err="1"/>
              <a:t>db</a:t>
            </a:r>
            <a:r>
              <a:rPr lang="it-IT" dirty="0"/>
              <a:t>-standard' compare chiaramente. Quindi Docker sa benissimo come si chiama questo container.</a:t>
            </a:r>
          </a:p>
          <a:p>
            <a:r>
              <a:rPr lang="it-IT" dirty="0"/>
              <a:t>Tuttavia, nella rete di default, Docker tiene questo registro sotto chiave. Un container </a:t>
            </a:r>
            <a:r>
              <a:rPr lang="it-IT" dirty="0" err="1"/>
              <a:t>backend</a:t>
            </a:r>
            <a:r>
              <a:rPr lang="it-IT" dirty="0"/>
              <a:t> che lo vuole raggiungere non ha il permesso di consultare questo elenco. Di conseguenza, anche se il nome esiste nel sistema, il </a:t>
            </a:r>
            <a:r>
              <a:rPr lang="it-IT" dirty="0" err="1"/>
              <a:t>backend</a:t>
            </a:r>
            <a:r>
              <a:rPr lang="it-IT" dirty="0"/>
              <a:t> è costretto a usare il numero IP 172.17.0.2 per connettersi.</a:t>
            </a:r>
          </a:p>
          <a:p>
            <a:r>
              <a:rPr lang="it-IT" dirty="0">
                <a:solidFill>
                  <a:srgbClr val="171FE2"/>
                </a:solidFill>
              </a:rPr>
              <a:t>Se il database si riavvia e il numero cambia, il </a:t>
            </a:r>
            <a:r>
              <a:rPr lang="it-IT" dirty="0" err="1">
                <a:solidFill>
                  <a:srgbClr val="171FE2"/>
                </a:solidFill>
              </a:rPr>
              <a:t>backend</a:t>
            </a:r>
            <a:r>
              <a:rPr lang="it-IT" dirty="0">
                <a:solidFill>
                  <a:srgbClr val="171FE2"/>
                </a:solidFill>
              </a:rPr>
              <a:t> non lo può più raggiungere.</a:t>
            </a:r>
          </a:p>
          <a:p>
            <a:r>
              <a:rPr lang="it-IT" b="1" dirty="0"/>
              <a:t>2. La Soluzione: Creazione di una Bridge Network Personalizzata</a:t>
            </a:r>
          </a:p>
          <a:p>
            <a:r>
              <a:rPr lang="it-IT" dirty="0"/>
              <a:t>Creiamo la nostra rete privata in cui i container coinvolti possono riconoscersi per nome e non più per </a:t>
            </a:r>
            <a:r>
              <a:rPr lang="it-IT" dirty="0" err="1"/>
              <a:t>ip</a:t>
            </a:r>
            <a:r>
              <a:rPr lang="it-IT" dirty="0"/>
              <a:t>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network create rete-aziendale</a:t>
            </a:r>
          </a:p>
          <a:p>
            <a:r>
              <a:rPr lang="it-IT" dirty="0"/>
              <a:t>Verifichiamo la lista delle reti per vedere il driver: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network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ls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06446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C75A0-45BD-A429-CA67-64D735D0F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2C200DBF-4A08-836C-39D8-B88A5FB54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3. Agganciamo i container alla nuova rete</a:t>
            </a:r>
          </a:p>
          <a:p>
            <a:r>
              <a:rPr lang="it-IT" dirty="0"/>
              <a:t>Avviamo il database reale inserendolo nella rete aziendale: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run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-d --name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db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-aziendale --network rete-aziendale -e MARIADB_ROOT_PASSWORD=secret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mariadb:latest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Ora se agganciamo nella stessa rete un container </a:t>
            </a:r>
            <a:r>
              <a:rPr lang="it-IT" dirty="0" err="1"/>
              <a:t>backend</a:t>
            </a:r>
            <a:r>
              <a:rPr lang="it-IT" dirty="0"/>
              <a:t>, potrà comunicare col database usando direttamente il nome </a:t>
            </a:r>
            <a:r>
              <a:rPr lang="it-IT" dirty="0" err="1"/>
              <a:t>db</a:t>
            </a:r>
            <a:r>
              <a:rPr lang="it-IT" dirty="0"/>
              <a:t>-aziendale.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44627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CCB24-18BE-77FC-63EB-9D4B5144C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della lezione">
            <a:extLst>
              <a:ext uri="{FF2B5EF4-FFF2-40B4-BE49-F238E27FC236}">
                <a16:creationId xmlns:a16="http://schemas.microsoft.com/office/drawing/2014/main" id="{6CF975E0-E2AF-6A49-0EAA-4C1D829D3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206"/>
            <a:ext cx="10515600" cy="314198"/>
          </a:xfrm>
        </p:spPr>
        <p:txBody>
          <a:bodyPr/>
          <a:lstStyle/>
          <a:p>
            <a:r>
              <a:rPr lang="it-IT" dirty="0"/>
              <a:t>LAB 4: Scrittura di </a:t>
            </a:r>
            <a:r>
              <a:rPr lang="it-IT" dirty="0" err="1"/>
              <a:t>Dockerfile</a:t>
            </a:r>
            <a:r>
              <a:rPr lang="it-IT" dirty="0"/>
              <a:t> – Single Stage vs Multi-Stage Build (Java Enterprise)</a:t>
            </a:r>
          </a:p>
        </p:txBody>
      </p:sp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44A52532-6530-08B6-7E03-86DD7982F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19" y="1558742"/>
            <a:ext cx="9557362" cy="4803369"/>
          </a:xfrm>
        </p:spPr>
        <p:txBody>
          <a:bodyPr/>
          <a:lstStyle/>
          <a:p>
            <a:r>
              <a:rPr lang="it-IT" b="1" dirty="0"/>
              <a:t>Obiettivo</a:t>
            </a:r>
            <a:r>
              <a:rPr lang="it-IT" dirty="0"/>
              <a:t>: Scrivere la "ricetta" di build di un'immagine personalizzata. Comprendere l'impatto dei </a:t>
            </a:r>
            <a:r>
              <a:rPr lang="it-IT" dirty="0" err="1"/>
              <a:t>layer</a:t>
            </a:r>
            <a:r>
              <a:rPr lang="it-IT" dirty="0"/>
              <a:t> sulla sicurezza e sulle dimensioni delle immagini aziendali passando da un build ingenuo a uno Multi-Stage professionale.</a:t>
            </a:r>
          </a:p>
          <a:p>
            <a:r>
              <a:rPr lang="it-IT" b="1" dirty="0"/>
              <a:t>Traccia:</a:t>
            </a:r>
            <a:r>
              <a:rPr lang="it-IT" dirty="0"/>
              <a:t> </a:t>
            </a:r>
            <a:r>
              <a:rPr lang="it-IT" b="1" dirty="0"/>
              <a:t>Scenario Aziendale:</a:t>
            </a:r>
            <a:r>
              <a:rPr lang="it-IT" dirty="0"/>
              <a:t> Il team di sviluppo vi ha fornito il codice sorgente di un'applicazione Java Spring Boot. Il manager Cloud vi impone un limite: l'immagine finale da caricare su AWS non deve superare i 250MB per motivi di costi di trasferimento e non deve contenere il codice sorgente in chiaro per motivi di sicurezza industriale. Dovete compilare l'app direttamente dentro Docker usando il Multi-Stage build.</a:t>
            </a:r>
          </a:p>
        </p:txBody>
      </p:sp>
    </p:spTree>
    <p:extLst>
      <p:ext uri="{BB962C8B-B14F-4D97-AF65-F5344CB8AC3E}">
        <p14:creationId xmlns:p14="http://schemas.microsoft.com/office/powerpoint/2010/main" val="1271585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49E80-5FB2-2FB3-878E-37B6F38D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A167E556-A370-DAF7-5DB9-BCA64CDE7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Creiamo una cartella chiamata progetto-java. All'interno creiamo una struttura di codice sorgente minima (per evitare di configurare un intero progetto Spring Boot reale).</a:t>
            </a:r>
          </a:p>
          <a:p>
            <a:r>
              <a:rPr lang="it-IT" dirty="0"/>
              <a:t>Dentro la cartella creiamo il file Avvio.java: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public class Avvio {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    public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static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void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main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(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String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[]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args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       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System.out.println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("Applicazione Enterprise Java avviata correttamente dentro Docker!");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}</a:t>
            </a:r>
          </a:p>
          <a:p>
            <a:endParaRPr lang="it-IT" dirty="0"/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157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42933-7F60-0D47-CA9F-1E6376E7B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26A7DC16-385D-497D-6F7C-49E00B3E61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PARTE 1: Il Build Ingenuo (Single-Stage) – La versione pesante</a:t>
            </a:r>
          </a:p>
          <a:p>
            <a:r>
              <a:rPr lang="it-IT" dirty="0"/>
              <a:t>Creiamo un file chiamato </a:t>
            </a:r>
            <a:r>
              <a:rPr lang="it-IT" b="1" dirty="0" err="1"/>
              <a:t>Dockerfile.pesante</a:t>
            </a:r>
            <a:r>
              <a:rPr lang="it-IT" b="1" dirty="0"/>
              <a:t> </a:t>
            </a:r>
            <a:r>
              <a:rPr lang="it-IT" dirty="0"/>
              <a:t>nella stessa cartella: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FROM maven:3.8.4-openjdk-17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WORKDIR /app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COPY Avvio.java /app/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# Compiliamo il codice dentro l'immagine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RUN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javac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Avvio.java </a:t>
            </a:r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# Crea un </a:t>
            </a:r>
            <a:r>
              <a:rPr lang="it-IT" dirty="0" err="1">
                <a:solidFill>
                  <a:srgbClr val="00B050"/>
                </a:solidFill>
                <a:latin typeface="Consolas" panose="020B0609020204030204" pitchFamily="49" charset="0"/>
              </a:rPr>
              <a:t>layer</a:t>
            </a:r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 con il .class</a:t>
            </a:r>
          </a:p>
          <a:p>
            <a:endParaRPr lang="it-IT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CMD ["java", "Avvio"]</a:t>
            </a:r>
          </a:p>
          <a:p>
            <a:r>
              <a:rPr lang="it-IT" dirty="0" err="1"/>
              <a:t>NB:usando</a:t>
            </a:r>
            <a:r>
              <a:rPr lang="it-IT" dirty="0"/>
              <a:t> </a:t>
            </a:r>
            <a:r>
              <a:rPr lang="it-IT" dirty="0" err="1"/>
              <a:t>javac</a:t>
            </a:r>
            <a:r>
              <a:rPr lang="it-IT" dirty="0"/>
              <a:t> possiamo fare a meno di Maven, ma è per simulare il caso di un progetto Spring Boot.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65796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995B-EB82-9ED3-182D-424CD7F0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586D7931-1A37-E2B7-368C-7E8D2E05D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Lanciamo il build di questa prima versione: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build -t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app-java:pesante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-f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Dockerfile.pesante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.</a:t>
            </a:r>
          </a:p>
          <a:p>
            <a:r>
              <a:rPr lang="it-IT" dirty="0"/>
              <a:t>Dettaglio delle opzioni: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build </a:t>
            </a:r>
          </a:p>
          <a:p>
            <a:pPr lvl="1"/>
            <a:r>
              <a:rPr lang="it-IT" sz="1800" dirty="0">
                <a:latin typeface="Neue Haas Grotesk Text Pro" panose="020B0504020202020204" pitchFamily="34" charset="0"/>
              </a:rPr>
              <a:t>avvia la costruzione di un'immagine Docker. 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-t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app-java:pesante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>
                <a:latin typeface="+mn-lt"/>
              </a:rPr>
              <a:t>(-t sta per tag)</a:t>
            </a:r>
          </a:p>
          <a:p>
            <a:pPr lvl="1"/>
            <a:r>
              <a:rPr lang="it-IT" sz="1800" dirty="0">
                <a:latin typeface="Neue Haas Grotesk Text Pro" panose="020B0504020202020204" pitchFamily="34" charset="0"/>
              </a:rPr>
              <a:t>assegna un nome (repository) e un tag (versione) all'immagine. </a:t>
            </a:r>
          </a:p>
          <a:p>
            <a:pPr lvl="1"/>
            <a:r>
              <a:rPr lang="it-IT" sz="1800" dirty="0">
                <a:latin typeface="Neue Haas Grotesk Text Pro" panose="020B0504020202020204" pitchFamily="34" charset="0"/>
              </a:rPr>
              <a:t>Nome: app-java </a:t>
            </a:r>
          </a:p>
          <a:p>
            <a:pPr lvl="1"/>
            <a:r>
              <a:rPr lang="it-IT" sz="1800" dirty="0">
                <a:latin typeface="Neue Haas Grotesk Text Pro" panose="020B0504020202020204" pitchFamily="34" charset="0"/>
              </a:rPr>
              <a:t>Tag: pesante </a:t>
            </a:r>
          </a:p>
          <a:p>
            <a:pPr lvl="1"/>
            <a:r>
              <a:rPr lang="it-IT" sz="1800" dirty="0">
                <a:latin typeface="Neue Haas Grotesk Text Pro" panose="020B0504020202020204" pitchFamily="34" charset="0"/>
              </a:rPr>
              <a:t>Equivale a: </a:t>
            </a:r>
            <a:r>
              <a:rPr lang="it-IT" sz="1800" dirty="0" err="1">
                <a:solidFill>
                  <a:srgbClr val="171FE2"/>
                </a:solidFill>
                <a:latin typeface="Consolas" panose="020B0609020204030204" pitchFamily="49" charset="0"/>
              </a:rPr>
              <a:t>app-java:pesante</a:t>
            </a:r>
            <a:endParaRPr lang="it-IT" sz="18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-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f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Dockerfile.pesante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/>
              <a:t>(-f sta per file)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pPr lvl="1"/>
            <a:r>
              <a:rPr lang="it-IT" sz="1800" dirty="0">
                <a:latin typeface="Neue Haas Grotesk Text Pro" panose="020B0504020202020204" pitchFamily="34" charset="0"/>
              </a:rPr>
              <a:t>dice a Docker di usare il file </a:t>
            </a:r>
            <a:r>
              <a:rPr lang="it-IT" sz="1800" dirty="0" err="1">
                <a:latin typeface="Neue Haas Grotesk Text Pro" panose="020B0504020202020204" pitchFamily="34" charset="0"/>
              </a:rPr>
              <a:t>Dockerfile.pesante</a:t>
            </a:r>
            <a:r>
              <a:rPr lang="it-IT" sz="1800" dirty="0">
                <a:latin typeface="Neue Haas Grotesk Text Pro" panose="020B0504020202020204" pitchFamily="34" charset="0"/>
              </a:rPr>
              <a:t> invece del file predefinito </a:t>
            </a:r>
            <a:r>
              <a:rPr lang="it-IT" sz="1800" dirty="0" err="1">
                <a:latin typeface="Neue Haas Grotesk Text Pro" panose="020B0504020202020204" pitchFamily="34" charset="0"/>
              </a:rPr>
              <a:t>Dockerfile</a:t>
            </a:r>
            <a:r>
              <a:rPr lang="it-IT" sz="1800" dirty="0">
                <a:latin typeface="Neue Haas Grotesk Text Pro" panose="020B0504020202020204" pitchFamily="34" charset="0"/>
              </a:rPr>
              <a:t>. </a:t>
            </a:r>
          </a:p>
          <a:p>
            <a:pPr lvl="1"/>
            <a:r>
              <a:rPr lang="it-IT" sz="1800" b="1" dirty="0">
                <a:solidFill>
                  <a:srgbClr val="171FE2"/>
                </a:solidFill>
                <a:latin typeface="Neue Haas Grotesk Text Pro" panose="020B0504020202020204" pitchFamily="34" charset="0"/>
              </a:rPr>
              <a:t>.</a:t>
            </a:r>
            <a:r>
              <a:rPr lang="it-IT" sz="1800" dirty="0">
                <a:latin typeface="Neue Haas Grotesk Text Pro" panose="020B0504020202020204" pitchFamily="34" charset="0"/>
              </a:rPr>
              <a:t>  indica il build </a:t>
            </a:r>
            <a:r>
              <a:rPr lang="it-IT" sz="1800" dirty="0" err="1">
                <a:latin typeface="Neue Haas Grotesk Text Pro" panose="020B0504020202020204" pitchFamily="34" charset="0"/>
              </a:rPr>
              <a:t>context</a:t>
            </a:r>
            <a:r>
              <a:rPr lang="it-IT" sz="1800" dirty="0">
                <a:latin typeface="Neue Haas Grotesk Text Pro" panose="020B0504020202020204" pitchFamily="34" charset="0"/>
              </a:rPr>
              <a:t>, cioè la cartella corrente. Tutti i file che il </a:t>
            </a:r>
            <a:r>
              <a:rPr lang="it-IT" sz="1800" dirty="0" err="1">
                <a:latin typeface="Neue Haas Grotesk Text Pro" panose="020B0504020202020204" pitchFamily="34" charset="0"/>
              </a:rPr>
              <a:t>Dockerfile</a:t>
            </a:r>
            <a:r>
              <a:rPr lang="it-IT" sz="1800" dirty="0">
                <a:latin typeface="Neue Haas Grotesk Text Pro" panose="020B0504020202020204" pitchFamily="34" charset="0"/>
              </a:rPr>
              <a:t> può copiare con COPY o ADD vengono presi da qui.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13018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6D1AA-0C75-24BC-E6CC-73DDF2F19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52D998CD-095E-3B57-BD4C-A9FC9AB2F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738" y="1349192"/>
            <a:ext cx="2940662" cy="4803369"/>
          </a:xfrm>
        </p:spPr>
        <p:txBody>
          <a:bodyPr/>
          <a:lstStyle/>
          <a:p>
            <a:r>
              <a:rPr lang="it-IT" b="1" dirty="0"/>
              <a:t>PARTE 2: Il Build Professionale (Multi-Stage) – La versione piuma</a:t>
            </a:r>
          </a:p>
          <a:p>
            <a:r>
              <a:rPr lang="it-IT" dirty="0"/>
              <a:t>L'immagine appena creata contiene il compilatore </a:t>
            </a:r>
            <a:r>
              <a:rPr lang="it-IT" dirty="0" err="1"/>
              <a:t>javac</a:t>
            </a:r>
            <a:r>
              <a:rPr lang="it-IT" dirty="0"/>
              <a:t>, l'intera suite Maven e il codice .java sorgente. </a:t>
            </a:r>
            <a:r>
              <a:rPr lang="it-IT" dirty="0">
                <a:solidFill>
                  <a:srgbClr val="171FE2"/>
                </a:solidFill>
              </a:rPr>
              <a:t>Roba inutile in produzione che appesantisce il server.</a:t>
            </a:r>
          </a:p>
          <a:p>
            <a:r>
              <a:rPr lang="it-IT" dirty="0"/>
              <a:t>Riscriviamo l'architettura creando un nuovo file chiamato </a:t>
            </a:r>
            <a:r>
              <a:rPr lang="it-IT" b="1" dirty="0" err="1"/>
              <a:t>Dockerfile.leggero</a:t>
            </a:r>
            <a:r>
              <a:rPr lang="it-IT" b="1" dirty="0"/>
              <a:t>.</a:t>
            </a:r>
            <a:endParaRPr lang="it-IT" dirty="0"/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4D2CC81-A0E0-F737-A9A9-AFD5222E71A7}"/>
              </a:ext>
            </a:extLst>
          </p:cNvPr>
          <p:cNvSpPr txBox="1"/>
          <p:nvPr/>
        </p:nvSpPr>
        <p:spPr>
          <a:xfrm>
            <a:off x="3515813" y="1349192"/>
            <a:ext cx="828944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# STAGE 1: Compilazione (La fabbrica)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FROM maven:3.8.4-openjdk-17 AS build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WORKDIR /build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COPY Avvio.java .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RUN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javac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Avvio.java </a:t>
            </a:r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# ottengo il </a:t>
            </a:r>
            <a:r>
              <a:rPr lang="it-IT" dirty="0" err="1">
                <a:solidFill>
                  <a:srgbClr val="00B050"/>
                </a:solidFill>
                <a:latin typeface="Consolas" panose="020B0609020204030204" pitchFamily="49" charset="0"/>
              </a:rPr>
              <a:t>layer</a:t>
            </a:r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 build/</a:t>
            </a:r>
            <a:r>
              <a:rPr lang="it-IT" dirty="0" err="1">
                <a:solidFill>
                  <a:srgbClr val="00B050"/>
                </a:solidFill>
                <a:latin typeface="Consolas" panose="020B0609020204030204" pitchFamily="49" charset="0"/>
              </a:rPr>
              <a:t>Avvio.class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# Nello stage 2, ci portiamo dietro solo il </a:t>
            </a:r>
            <a:r>
              <a:rPr lang="it-IT" dirty="0" err="1">
                <a:solidFill>
                  <a:srgbClr val="00B050"/>
                </a:solidFill>
                <a:latin typeface="Consolas" panose="020B0609020204030204" pitchFamily="49" charset="0"/>
              </a:rPr>
              <a:t>layer</a:t>
            </a:r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 ottenuto</a:t>
            </a:r>
          </a:p>
          <a:p>
            <a:endParaRPr lang="it-IT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# STAGE 2: Esecuzione (Il negozio leggero)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FROM </a:t>
            </a:r>
            <a:r>
              <a:rPr lang="it-IT" dirty="0"/>
              <a:t>eclipse-temurin:17-jre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WORKDIR /app</a:t>
            </a:r>
          </a:p>
          <a:p>
            <a:r>
              <a:rPr lang="it-IT" dirty="0">
                <a:solidFill>
                  <a:srgbClr val="00B050"/>
                </a:solidFill>
                <a:latin typeface="Consolas" panose="020B0609020204030204" pitchFamily="49" charset="0"/>
              </a:rPr>
              <a:t># Prendiamo SOLO il file compilato .class dallo stage precedente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COPY --from=build /build/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Avvio.class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/app/</a:t>
            </a:r>
          </a:p>
          <a:p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CMD ["java", "Avvio"]</a:t>
            </a:r>
          </a:p>
        </p:txBody>
      </p:sp>
    </p:spTree>
    <p:extLst>
      <p:ext uri="{BB962C8B-B14F-4D97-AF65-F5344CB8AC3E}">
        <p14:creationId xmlns:p14="http://schemas.microsoft.com/office/powerpoint/2010/main" val="23303037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13410-C636-131C-8B27-49E74CF77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ED88E4CC-0A67-6092-721A-BE4231307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b="1" dirty="0"/>
              <a:t>PARTE 3: L'Ispezione dei pesi</a:t>
            </a:r>
          </a:p>
          <a:p>
            <a:r>
              <a:rPr lang="it-IT" dirty="0"/>
              <a:t>Eseguiamo il comando di controllo: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images |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select-string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"app-java"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/>
          </a:p>
          <a:p>
            <a:r>
              <a:rPr lang="it-IT" dirty="0"/>
              <a:t>Facciamo girare il container leggero per verificare che funzioni:</a:t>
            </a:r>
          </a:p>
          <a:p>
            <a:r>
              <a:rPr lang="sv-SE" dirty="0">
                <a:solidFill>
                  <a:srgbClr val="171FE2"/>
                </a:solidFill>
                <a:latin typeface="Consolas" panose="020B0609020204030204" pitchFamily="49" charset="0"/>
              </a:rPr>
              <a:t>docker run --rm app-java:leggera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A schermo apparirà la scritta: "Applicazione Enterprise Java avviata correttamente dentro Docker!" e il container si auto-eliminerà (--</a:t>
            </a:r>
            <a:r>
              <a:rPr lang="it-IT" dirty="0" err="1"/>
              <a:t>rm</a:t>
            </a:r>
            <a:r>
              <a:rPr lang="it-IT" dirty="0"/>
              <a:t>) subito dopo aver terminato il lavoro, lasciando il PC pulito.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A4A58602-9362-EBF5-19B8-D9FB9B527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919" y="2681076"/>
            <a:ext cx="3544217" cy="149584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0424D3B-A3A6-C2AC-FC5F-CB3366CB62E5}"/>
              </a:ext>
            </a:extLst>
          </p:cNvPr>
          <p:cNvSpPr txBox="1"/>
          <p:nvPr/>
        </p:nvSpPr>
        <p:spPr>
          <a:xfrm>
            <a:off x="5188616" y="2474235"/>
            <a:ext cx="684815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Docker non duplica i </a:t>
            </a:r>
            <a:r>
              <a:rPr lang="it-IT" dirty="0" err="1"/>
              <a:t>layer</a:t>
            </a:r>
            <a:r>
              <a:rPr lang="it-IT" dirty="0"/>
              <a:t> uguali.</a:t>
            </a:r>
          </a:p>
          <a:p>
            <a:r>
              <a:rPr lang="it-IT" dirty="0"/>
              <a:t>Quindi:</a:t>
            </a:r>
          </a:p>
          <a:p>
            <a:r>
              <a:rPr lang="it-IT" b="1" dirty="0"/>
              <a:t>425 MB</a:t>
            </a:r>
            <a:r>
              <a:rPr lang="it-IT" dirty="0"/>
              <a:t> = dimensione logica dell'immagine leggera. </a:t>
            </a:r>
          </a:p>
          <a:p>
            <a:r>
              <a:rPr lang="it-IT" b="1" dirty="0"/>
              <a:t>109 MB</a:t>
            </a:r>
            <a:r>
              <a:rPr lang="it-IT" dirty="0"/>
              <a:t> = spazio aggiuntivo occupato sul disco perché molti </a:t>
            </a:r>
          </a:p>
          <a:p>
            <a:r>
              <a:rPr lang="it-IT" dirty="0" err="1"/>
              <a:t>layer</a:t>
            </a:r>
            <a:r>
              <a:rPr lang="it-IT" dirty="0"/>
              <a:t> sono condivisi con altre immagini. </a:t>
            </a:r>
          </a:p>
          <a:p>
            <a:r>
              <a:rPr lang="it-IT" dirty="0"/>
              <a:t>Analogamente:</a:t>
            </a:r>
          </a:p>
          <a:p>
            <a:r>
              <a:rPr lang="it-IT" b="1" dirty="0"/>
              <a:t>1.25 GB</a:t>
            </a:r>
            <a:r>
              <a:rPr lang="it-IT" dirty="0"/>
              <a:t> = dimensione logica dell'immagine pesante. </a:t>
            </a:r>
          </a:p>
          <a:p>
            <a:r>
              <a:rPr lang="it-IT" b="1" dirty="0"/>
              <a:t>428 MB</a:t>
            </a:r>
            <a:r>
              <a:rPr lang="it-IT" dirty="0"/>
              <a:t> = spazio unico che quella immagine aggiunge rispetto ai </a:t>
            </a:r>
            <a:r>
              <a:rPr lang="it-IT" dirty="0" err="1"/>
              <a:t>layer</a:t>
            </a:r>
            <a:r>
              <a:rPr lang="it-IT" dirty="0"/>
              <a:t> </a:t>
            </a:r>
          </a:p>
          <a:p>
            <a:r>
              <a:rPr lang="it-IT" dirty="0"/>
              <a:t>già presenti.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46357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1B70F-6646-69DD-B0EC-CF090F782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7EF51540-EAF1-1E74-5AA3-17F204C1C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Per vedere i dettagli dell’immagine leggera: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image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inspect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app-java:leggera</a:t>
            </a:r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oppure:</a:t>
            </a:r>
          </a:p>
          <a:p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system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df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–v</a:t>
            </a:r>
          </a:p>
          <a:p>
            <a:r>
              <a:rPr lang="it-IT" dirty="0"/>
              <a:t>Quest'ultimo è molto interessante perché mostra: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dimensione totale dell'immagine;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spazio condiviso;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spazio unico;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cache di build. </a:t>
            </a:r>
          </a:p>
          <a:p>
            <a:r>
              <a:rPr lang="it-IT" dirty="0"/>
              <a:t>È il comando migliore per capire perché due immagini apparentemente enormi occupano molto meno spazio reale sul disco.</a:t>
            </a: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endParaRPr lang="it-IT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8136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D1C76-4DDD-4D60-9D6E-617894A69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1A9A86DC-CDD5-7FC2-1886-1C571E57B4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5438" y="1349192"/>
            <a:ext cx="9557362" cy="4803369"/>
          </a:xfrm>
        </p:spPr>
        <p:txBody>
          <a:bodyPr/>
          <a:lstStyle/>
          <a:p>
            <a:r>
              <a:rPr lang="it-IT" dirty="0"/>
              <a:t>La </a:t>
            </a:r>
            <a:r>
              <a:rPr lang="it-IT" b="1" dirty="0"/>
              <a:t>build cache</a:t>
            </a:r>
            <a:r>
              <a:rPr lang="it-IT" dirty="0"/>
              <a:t> di Docker è un insieme di </a:t>
            </a:r>
            <a:r>
              <a:rPr lang="it-IT" dirty="0" err="1"/>
              <a:t>layer</a:t>
            </a:r>
            <a:r>
              <a:rPr lang="it-IT" dirty="0"/>
              <a:t> che Docker conserva per evitare di rifare lavoro già fatto durante le build successive.</a:t>
            </a:r>
          </a:p>
          <a:p>
            <a:r>
              <a:rPr lang="it-IT" dirty="0"/>
              <a:t>Prendiamo questo </a:t>
            </a:r>
            <a:r>
              <a:rPr lang="it-IT" dirty="0" err="1"/>
              <a:t>Dockerfile</a:t>
            </a:r>
            <a:r>
              <a:rPr lang="it-IT" dirty="0"/>
              <a:t>: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FROM eclipse-temurin:17-jdk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WORKDIR /app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COPY Avvio.java .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RUN </a:t>
            </a:r>
            <a:r>
              <a:rPr lang="it-IT" sz="1400" dirty="0" err="1">
                <a:solidFill>
                  <a:srgbClr val="171FE2"/>
                </a:solidFill>
                <a:latin typeface="Consolas" panose="020B0609020204030204" pitchFamily="49" charset="0"/>
              </a:rPr>
              <a:t>javac</a:t>
            </a:r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 Avvio.java</a:t>
            </a:r>
          </a:p>
          <a:p>
            <a:r>
              <a:rPr lang="it-IT" sz="1400" dirty="0">
                <a:solidFill>
                  <a:srgbClr val="171FE2"/>
                </a:solidFill>
                <a:latin typeface="Consolas" panose="020B0609020204030204" pitchFamily="49" charset="0"/>
              </a:rPr>
              <a:t>CMD ["java", "Avvio"]</a:t>
            </a:r>
          </a:p>
          <a:p>
            <a:r>
              <a:rPr lang="it-IT" dirty="0"/>
              <a:t>Quando eseguiamo: </a:t>
            </a:r>
            <a:r>
              <a:rPr lang="it-IT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dirty="0">
                <a:solidFill>
                  <a:srgbClr val="171FE2"/>
                </a:solidFill>
                <a:latin typeface="Consolas" panose="020B0609020204030204" pitchFamily="49" charset="0"/>
              </a:rPr>
              <a:t> build -t app-java .</a:t>
            </a:r>
          </a:p>
          <a:p>
            <a:r>
              <a:rPr lang="it-IT" dirty="0"/>
              <a:t>e li salva nella cache.</a:t>
            </a:r>
          </a:p>
          <a:p>
            <a:r>
              <a:rPr lang="it-IT" dirty="0"/>
              <a:t>Se eseguiamo una seconda build con lo stesso comando senza modificare nulla, Docker vede che: il </a:t>
            </a:r>
            <a:r>
              <a:rPr lang="it-IT" dirty="0" err="1"/>
              <a:t>Dockerfile</a:t>
            </a:r>
            <a:r>
              <a:rPr lang="it-IT" dirty="0"/>
              <a:t> è uguale; Avvio.java è uguale; e riutilizza i </a:t>
            </a:r>
            <a:r>
              <a:rPr lang="it-IT" dirty="0" err="1"/>
              <a:t>layer</a:t>
            </a:r>
            <a:r>
              <a:rPr lang="it-IT" dirty="0"/>
              <a:t> già costruiti.</a:t>
            </a:r>
          </a:p>
          <a:p>
            <a:r>
              <a:rPr lang="it-IT" dirty="0"/>
              <a:t>Vedremo messaggi tipo:</a:t>
            </a:r>
          </a:p>
          <a:p>
            <a:r>
              <a:rPr lang="it-IT" sz="1200" dirty="0">
                <a:solidFill>
                  <a:srgbClr val="171FE2"/>
                </a:solidFill>
                <a:latin typeface="Consolas" panose="020B0609020204030204" pitchFamily="49" charset="0"/>
              </a:rPr>
              <a:t>CACHED [2/4] WORKDIR /app</a:t>
            </a:r>
          </a:p>
          <a:p>
            <a:r>
              <a:rPr lang="it-IT" sz="1200" dirty="0">
                <a:solidFill>
                  <a:srgbClr val="171FE2"/>
                </a:solidFill>
                <a:latin typeface="Consolas" panose="020B0609020204030204" pitchFamily="49" charset="0"/>
              </a:rPr>
              <a:t>CACHED [3/4] COPY Avvio.java .</a:t>
            </a:r>
          </a:p>
          <a:p>
            <a:r>
              <a:rPr lang="it-IT" sz="1200" dirty="0">
                <a:solidFill>
                  <a:srgbClr val="171FE2"/>
                </a:solidFill>
                <a:latin typeface="Consolas" panose="020B0609020204030204" pitchFamily="49" charset="0"/>
              </a:rPr>
              <a:t>CACHED [4/4] RUN </a:t>
            </a:r>
            <a:r>
              <a:rPr lang="it-IT" sz="1200" dirty="0" err="1">
                <a:solidFill>
                  <a:srgbClr val="171FE2"/>
                </a:solidFill>
                <a:latin typeface="Consolas" panose="020B0609020204030204" pitchFamily="49" charset="0"/>
              </a:rPr>
              <a:t>javac</a:t>
            </a:r>
            <a:r>
              <a:rPr lang="it-IT" sz="1200" dirty="0">
                <a:solidFill>
                  <a:srgbClr val="171FE2"/>
                </a:solidFill>
                <a:latin typeface="Consolas" panose="020B0609020204030204" pitchFamily="49" charset="0"/>
              </a:rPr>
              <a:t> Avvio.java</a:t>
            </a:r>
          </a:p>
          <a:p>
            <a:r>
              <a:rPr lang="it-IT" sz="1200" dirty="0"/>
              <a:t>La build durerà pochi istanti.</a:t>
            </a:r>
            <a:endParaRPr lang="it-IT" sz="1200" dirty="0">
              <a:solidFill>
                <a:srgbClr val="171FE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1343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A2975-E353-DD33-F4A3-86B0A7831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uto della lezione">
            <a:extLst>
              <a:ext uri="{FF2B5EF4-FFF2-40B4-BE49-F238E27FC236}">
                <a16:creationId xmlns:a16="http://schemas.microsoft.com/office/drawing/2014/main" id="{0BC3C842-22FC-2A4D-512E-9C9E2E0833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311" y="913015"/>
            <a:ext cx="5347312" cy="4803369"/>
          </a:xfrm>
        </p:spPr>
        <p:txBody>
          <a:bodyPr/>
          <a:lstStyle/>
          <a:p>
            <a:r>
              <a:rPr lang="it-IT" sz="1600" dirty="0"/>
              <a:t>Se modifichiamo il sorgente, Docker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riutilizza i </a:t>
            </a:r>
            <a:r>
              <a:rPr lang="it-IT" sz="1600" dirty="0" err="1"/>
              <a:t>layer</a:t>
            </a:r>
            <a:r>
              <a:rPr lang="it-IT" sz="1600" dirty="0"/>
              <a:t> precedenti fino a WORKDIR;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deve rifare COPY Avvio.java;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600" dirty="0"/>
              <a:t>deve rifare RUN </a:t>
            </a:r>
            <a:r>
              <a:rPr lang="it-IT" sz="1600" dirty="0" err="1"/>
              <a:t>javac</a:t>
            </a:r>
            <a:r>
              <a:rPr lang="it-IT" sz="1600" dirty="0"/>
              <a:t> Avvio.java. </a:t>
            </a:r>
          </a:p>
          <a:p>
            <a:r>
              <a:rPr lang="it-IT" sz="1600" dirty="0"/>
              <a:t>Questi nuovi </a:t>
            </a:r>
            <a:r>
              <a:rPr lang="it-IT" sz="1600" dirty="0" err="1"/>
              <a:t>layer</a:t>
            </a:r>
            <a:r>
              <a:rPr lang="it-IT" sz="1600" dirty="0"/>
              <a:t> vengono aggiunti alla cache.</a:t>
            </a:r>
          </a:p>
          <a:p>
            <a:endParaRPr lang="it-IT" sz="1600" dirty="0"/>
          </a:p>
          <a:p>
            <a:r>
              <a:rPr lang="it-IT" sz="1600" dirty="0"/>
              <a:t>Ogni build lascia </a:t>
            </a:r>
            <a:r>
              <a:rPr lang="it-IT" sz="1600" dirty="0" err="1"/>
              <a:t>layer</a:t>
            </a:r>
            <a:r>
              <a:rPr lang="it-IT" sz="1600" dirty="0"/>
              <a:t> utilizzabili in futuro.</a:t>
            </a:r>
          </a:p>
          <a:p>
            <a:r>
              <a:rPr lang="it-IT" sz="1600" dirty="0"/>
              <a:t>Dopo molte build puoi avere:</a:t>
            </a:r>
          </a:p>
          <a:p>
            <a:r>
              <a:rPr lang="it-IT" sz="1600" dirty="0"/>
              <a:t>Cache di build: 2.3 GB</a:t>
            </a:r>
          </a:p>
          <a:p>
            <a:r>
              <a:rPr lang="it-IT" sz="1600" dirty="0"/>
              <a:t>Immagini:       1.1 GB</a:t>
            </a:r>
          </a:p>
          <a:p>
            <a:r>
              <a:rPr lang="it-IT" sz="1600" dirty="0"/>
              <a:t>Container:      0.0 GB</a:t>
            </a:r>
          </a:p>
          <a:p>
            <a:r>
              <a:rPr lang="it-IT" sz="1600" dirty="0"/>
              <a:t>anche se alcune immagini sono state cancellate.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0580CDE-11AE-4FE6-D76E-E41343E88474}"/>
              </a:ext>
            </a:extLst>
          </p:cNvPr>
          <p:cNvSpPr txBox="1"/>
          <p:nvPr/>
        </p:nvSpPr>
        <p:spPr>
          <a:xfrm>
            <a:off x="5057486" y="913015"/>
            <a:ext cx="7018203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Come vedere la cache</a:t>
            </a:r>
          </a:p>
          <a:p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system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df</a:t>
            </a:r>
            <a:endParaRPr lang="it-IT" sz="1600" dirty="0">
              <a:solidFill>
                <a:srgbClr val="171FE2"/>
              </a:solidFill>
              <a:latin typeface="Consolas" panose="020B0609020204030204" pitchFamily="49" charset="0"/>
            </a:endParaRPr>
          </a:p>
          <a:p>
            <a:r>
              <a:rPr lang="it-IT" dirty="0"/>
              <a:t>oppure più dettagliato:</a:t>
            </a:r>
          </a:p>
          <a:p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system </a:t>
            </a:r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df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-v</a:t>
            </a:r>
          </a:p>
          <a:p>
            <a:r>
              <a:rPr lang="it-IT" dirty="0"/>
              <a:t>Output tipico:</a:t>
            </a:r>
          </a:p>
          <a:p>
            <a:r>
              <a:rPr lang="it-IT" dirty="0"/>
              <a:t>TYPE            TOTAL     ACTIVE    SIZE</a:t>
            </a:r>
            <a:br>
              <a:rPr lang="it-IT" dirty="0"/>
            </a:br>
            <a:r>
              <a:rPr lang="it-IT" dirty="0"/>
              <a:t>Images          5         2         1.8GB</a:t>
            </a:r>
            <a:br>
              <a:rPr lang="it-IT" dirty="0"/>
            </a:br>
            <a:r>
              <a:rPr lang="it-IT" dirty="0"/>
              <a:t>Containers      2         0         0B</a:t>
            </a:r>
            <a:br>
              <a:rPr lang="it-IT" dirty="0"/>
            </a:br>
            <a:r>
              <a:rPr lang="it-IT" dirty="0"/>
              <a:t>Build Cache     24        0         950MB</a:t>
            </a:r>
          </a:p>
          <a:p>
            <a:br>
              <a:rPr lang="it-IT" dirty="0"/>
            </a:br>
            <a:endParaRPr lang="it-IT" dirty="0"/>
          </a:p>
          <a:p>
            <a:r>
              <a:rPr lang="it-IT" b="1" dirty="0"/>
              <a:t>Come svuotarla</a:t>
            </a:r>
          </a:p>
          <a:p>
            <a:r>
              <a:rPr lang="it-IT" dirty="0"/>
              <a:t>Solo la cache di build:</a:t>
            </a:r>
          </a:p>
          <a:p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builder prune</a:t>
            </a:r>
          </a:p>
          <a:p>
            <a:r>
              <a:rPr lang="it-IT" dirty="0"/>
              <a:t>Tutta la cache senza chiedere conferma:</a:t>
            </a:r>
          </a:p>
          <a:p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builder prune -f</a:t>
            </a:r>
          </a:p>
          <a:p>
            <a:r>
              <a:rPr lang="it-IT" dirty="0"/>
              <a:t>Tutte le cache inutilizzate (immagini, container fermati, reti, cache build):</a:t>
            </a:r>
          </a:p>
          <a:p>
            <a:r>
              <a:rPr lang="it-IT" sz="1600" dirty="0" err="1">
                <a:solidFill>
                  <a:srgbClr val="171FE2"/>
                </a:solidFill>
                <a:latin typeface="Consolas" panose="020B0609020204030204" pitchFamily="49" charset="0"/>
              </a:rPr>
              <a:t>docker</a:t>
            </a:r>
            <a:r>
              <a:rPr lang="it-IT" sz="1600" dirty="0">
                <a:solidFill>
                  <a:srgbClr val="171FE2"/>
                </a:solidFill>
                <a:latin typeface="Consolas" panose="020B0609020204030204" pitchFamily="49" charset="0"/>
              </a:rPr>
              <a:t> system prune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488912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E02355-4941-9C10-CA1D-649F04DB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pc="0" dirty="0">
                <a:latin typeface="Neue Haas Grotesk Text Pro" panose="020B0504020202020204" pitchFamily="34" charset="0"/>
              </a:rPr>
              <a:t>GRAZIE PER L’ATTENZIONE</a:t>
            </a:r>
          </a:p>
        </p:txBody>
      </p:sp>
    </p:spTree>
    <p:extLst>
      <p:ext uri="{BB962C8B-B14F-4D97-AF65-F5344CB8AC3E}">
        <p14:creationId xmlns:p14="http://schemas.microsoft.com/office/powerpoint/2010/main" val="3003246572"/>
      </p:ext>
    </p:extLst>
  </p:cSld>
  <p:clrMapOvr>
    <a:masterClrMapping/>
  </p:clrMapOvr>
</p:sld>
</file>

<file path=ppt/theme/theme1.xml><?xml version="1.0" encoding="utf-8"?>
<a:theme xmlns:a="http://schemas.openxmlformats.org/drawingml/2006/main" name="Intr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1b72fd8-e7d0-49ac-9795-d1b0bc6b7e1c" xsi:nil="true"/>
    <lcf76f155ced4ddcb4097134ff3c332f xmlns="8b3acf13-3a58-43b2-a29e-f23503de136d">
      <Terms xmlns="http://schemas.microsoft.com/office/infopath/2007/PartnerControls"/>
    </lcf76f155ced4ddcb4097134ff3c332f>
    <Argomento xmlns="8b3acf13-3a58-43b2-a29e-f23503de136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455C6CD0B9BF4DB2CA3009677D9668" ma:contentTypeVersion="17" ma:contentTypeDescription="Create a new document." ma:contentTypeScope="" ma:versionID="6361f2605a906a42d9630ca59d277a8b">
  <xsd:schema xmlns:xsd="http://www.w3.org/2001/XMLSchema" xmlns:xs="http://www.w3.org/2001/XMLSchema" xmlns:p="http://schemas.microsoft.com/office/2006/metadata/properties" xmlns:ns2="8b3acf13-3a58-43b2-a29e-f23503de136d" xmlns:ns3="21b72fd8-e7d0-49ac-9795-d1b0bc6b7e1c" targetNamespace="http://schemas.microsoft.com/office/2006/metadata/properties" ma:root="true" ma:fieldsID="ae4eb9e2c998b5efed80ec6126f835fa" ns2:_="" ns3:_="">
    <xsd:import namespace="8b3acf13-3a58-43b2-a29e-f23503de136d"/>
    <xsd:import namespace="21b72fd8-e7d0-49ac-9795-d1b0bc6b7e1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Argomento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3acf13-3a58-43b2-a29e-f23503de13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6f31c764-9f90-46cb-b927-e7c76de0672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Argomento" ma:index="24" nillable="true" ma:displayName="Argomento" ma:format="Dropdown" ma:internalName="Argomento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b72fd8-e7d0-49ac-9795-d1b0bc6b7e1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40603bf2-5c45-4900-ad6d-aa2e93470d68}" ma:internalName="TaxCatchAll" ma:showField="CatchAllData" ma:web="21b72fd8-e7d0-49ac-9795-d1b0bc6b7e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766878A-54ED-4867-B478-72A29DC19B89}">
  <ds:schemaRefs>
    <ds:schemaRef ds:uri="http://schemas.microsoft.com/office/2006/metadata/properties"/>
    <ds:schemaRef ds:uri="http://schemas.microsoft.com/office/infopath/2007/PartnerControls"/>
    <ds:schemaRef ds:uri="21b72fd8-e7d0-49ac-9795-d1b0bc6b7e1c"/>
    <ds:schemaRef ds:uri="8b3acf13-3a58-43b2-a29e-f23503de136d"/>
  </ds:schemaRefs>
</ds:datastoreItem>
</file>

<file path=customXml/itemProps2.xml><?xml version="1.0" encoding="utf-8"?>
<ds:datastoreItem xmlns:ds="http://schemas.openxmlformats.org/officeDocument/2006/customXml" ds:itemID="{67C65656-B2D8-4C19-A873-091B25A5212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0468F63-B318-4D5F-A1DF-86BE98AC22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b3acf13-3a58-43b2-a29e-f23503de136d"/>
    <ds:schemaRef ds:uri="21b72fd8-e7d0-49ac-9795-d1b0bc6b7e1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1993</TotalTime>
  <Words>2691</Words>
  <Application>Microsoft Office PowerPoint</Application>
  <PresentationFormat>Widescreen</PresentationFormat>
  <Paragraphs>237</Paragraphs>
  <Slides>25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31" baseType="lpstr">
      <vt:lpstr>Arial</vt:lpstr>
      <vt:lpstr>Calibri</vt:lpstr>
      <vt:lpstr>Consolas</vt:lpstr>
      <vt:lpstr>Neue Haas Grotesk Display Pro</vt:lpstr>
      <vt:lpstr>Neue Haas Grotesk Text Pro</vt:lpstr>
      <vt:lpstr>Intro</vt:lpstr>
      <vt:lpstr>Presentazione standard di PowerPoint</vt:lpstr>
      <vt:lpstr>Presentazione standard di PowerPoint</vt:lpstr>
      <vt:lpstr>LAB 1: Il Ciclo di Vita dei Container e la "Mortalità" dei Dati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LAB 2: La Persistenza dei Dati – Named Volumes vs Bind Mounts</vt:lpstr>
      <vt:lpstr>Presentazione standard di PowerPoint</vt:lpstr>
      <vt:lpstr>Presentazione standard di PowerPoint</vt:lpstr>
      <vt:lpstr>Presentazione standard di PowerPoint</vt:lpstr>
      <vt:lpstr>LAB 3: Il Networking Isolato – Comunicazione via DNS interno</vt:lpstr>
      <vt:lpstr>Presentazione standard di PowerPoint</vt:lpstr>
      <vt:lpstr>Presentazione standard di PowerPoint</vt:lpstr>
      <vt:lpstr>Presentazione standard di PowerPoint</vt:lpstr>
      <vt:lpstr>LAB 4: Scrittura di Dockerfile – Single Stage vs Multi-Stage Build (Java Enterprise)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Davide Grillo</dc:creator>
  <cp:lastModifiedBy>Mirko Ony</cp:lastModifiedBy>
  <cp:revision>286</cp:revision>
  <dcterms:created xsi:type="dcterms:W3CDTF">2023-09-21T07:59:23Z</dcterms:created>
  <dcterms:modified xsi:type="dcterms:W3CDTF">2026-06-14T17:30:29Z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0x010100D3455C6CD0B9BF4DB2CA3009677D9668</vt:lpwstr>
  </property>
</Properties>
</file>