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43"/>
  </p:notesMasterIdLst>
  <p:handoutMasterIdLst>
    <p:handoutMasterId r:id="rId44"/>
  </p:handoutMasterIdLst>
  <p:sldIdLst>
    <p:sldId id="262" r:id="rId5"/>
    <p:sldId id="259" r:id="rId6"/>
    <p:sldId id="258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61" r:id="rId4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FE2"/>
    <a:srgbClr val="0C0C0D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33" autoAdjust="0"/>
    <p:restoredTop sz="92907" autoAdjust="0"/>
  </p:normalViewPr>
  <p:slideViewPr>
    <p:cSldViewPr snapToGrid="0" showGuides="1">
      <p:cViewPr varScale="1">
        <p:scale>
          <a:sx n="105" d="100"/>
          <a:sy n="105" d="100"/>
        </p:scale>
        <p:origin x="41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6" d="100"/>
          <a:sy n="56" d="100"/>
        </p:scale>
        <p:origin x="19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BF59EF6-0FF4-3C26-C2BB-DB4C81646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A684938-E2E5-17C8-EF87-D39DC23A0CE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67D21-D55F-4A7B-94FF-7608FD989819}" type="datetimeFigureOut">
              <a:rPr lang="it-IT" smtClean="0"/>
              <a:t>14/06/2026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1588DC1-54E0-DA10-6330-B5B85E54BE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BF496F1-A8FC-84F6-A381-661BDD027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F2323-8915-4474-89BB-0944B80755B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4586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B2B73-14A8-482F-9803-A95CC73B5B34}" type="datetimeFigureOut">
              <a:rPr lang="it-IT" smtClean="0"/>
              <a:t>14/06/2026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FDE81-C331-4896-AC61-55381248B14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80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8FDE81-C331-4896-AC61-55381248B14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724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Logo">
            <a:extLst>
              <a:ext uri="{FF2B5EF4-FFF2-40B4-BE49-F238E27FC236}">
                <a16:creationId xmlns:a16="http://schemas.microsoft.com/office/drawing/2014/main" id="{4C834844-A2F7-AC9C-2087-6061FCF61E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8E5D1B6-A890-892D-9858-91BBCF4C4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3160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olo della 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magine 9">
            <a:extLst>
              <a:ext uri="{FF2B5EF4-FFF2-40B4-BE49-F238E27FC236}">
                <a16:creationId xmlns:a16="http://schemas.microsoft.com/office/drawing/2014/main" id="{03BCE473-8FC3-9F4F-E292-BFC28ABE7B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00000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498" b="7498"/>
          <a:stretch/>
        </p:blipFill>
        <p:spPr>
          <a:xfrm>
            <a:off x="8" y="4"/>
            <a:ext cx="12191984" cy="68579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6FDB36-122C-6ED3-0E68-A0444075919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49604" y="2315869"/>
            <a:ext cx="2692791" cy="55802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j-ea"/>
                <a:cs typeface="+mj-cs"/>
              </a:defRPr>
            </a:lvl1pPr>
          </a:lstStyle>
          <a:p>
            <a:r>
              <a:rPr lang="it-IT" dirty="0"/>
              <a:t>Lezione 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0F8F589-6BFD-59A4-6E34-32CA9C30E5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3152912"/>
            <a:ext cx="10515600" cy="6728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chemeClr val="bg1"/>
                </a:solidFill>
                <a:latin typeface="Neue Haas Grotesk Display Pro" panose="020D0304030502050203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TITOLO DELLA LEZIONE</a:t>
            </a:r>
          </a:p>
        </p:txBody>
      </p:sp>
      <p:sp>
        <p:nvSpPr>
          <p:cNvPr id="7" name="Autore">
            <a:extLst>
              <a:ext uri="{FF2B5EF4-FFF2-40B4-BE49-F238E27FC236}">
                <a16:creationId xmlns:a16="http://schemas.microsoft.com/office/drawing/2014/main" id="{21C9F551-AFE9-0973-2117-C6CBF8585A06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bg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C4425D4D-A67B-8DB9-9A03-E768C2FD3E3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  <p:sp>
        <p:nvSpPr>
          <p:cNvPr id="13" name="Segnaposto numero diapositiva 6" hidden="1">
            <a:extLst>
              <a:ext uri="{FF2B5EF4-FFF2-40B4-BE49-F238E27FC236}">
                <a16:creationId xmlns:a16="http://schemas.microsoft.com/office/drawing/2014/main" id="{F8AAF250-B3FA-F808-9996-FA310B7EE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481FF4BB-6EC3-F2A7-6542-58D51086A02D}"/>
              </a:ext>
            </a:extLst>
          </p:cNvPr>
          <p:cNvPicPr preferRelativeResize="0"/>
          <p:nvPr userDrawn="1"/>
        </p:nvPicPr>
        <p:blipFill rotWithShape="1">
          <a:blip r:embed="rId6" cstate="print"/>
          <a:srcRect l="1386" t="187" r="342" b="95555"/>
          <a:stretch/>
        </p:blipFill>
        <p:spPr>
          <a:xfrm>
            <a:off x="0" y="0"/>
            <a:ext cx="12191992" cy="20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28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rgbClr val="171FE2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Contenuto della lezione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rgbClr val="171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Mirko Onorato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562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borato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>
            <a:extLst>
              <a:ext uri="{FF2B5EF4-FFF2-40B4-BE49-F238E27FC236}">
                <a16:creationId xmlns:a16="http://schemas.microsoft.com/office/drawing/2014/main" id="{5DB3A6F7-B730-F638-2762-1FD1042E5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B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8DC6F-CD43-0811-A979-B271C0C3A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206"/>
            <a:ext cx="10515600" cy="314198"/>
          </a:xfrm>
          <a:prstGeom prst="rect">
            <a:avLst/>
          </a:prstGeom>
        </p:spPr>
        <p:txBody>
          <a:bodyPr/>
          <a:lstStyle>
            <a:lvl1pPr>
              <a:defRPr sz="2200" b="1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r>
              <a:rPr lang="it-IT" dirty="0"/>
              <a:t>Titolo del laboratorio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22E0480-F66A-DF55-F8D6-E7F6741750C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8488" y="1399311"/>
            <a:ext cx="11355024" cy="48033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Neue Haas Grotesk Text Pro" panose="020B0504020202020204" pitchFamily="34" charset="0"/>
              </a:defRPr>
            </a:lvl1pPr>
          </a:lstStyle>
          <a:p>
            <a:pPr lvl="0"/>
            <a:r>
              <a:rPr lang="it-IT" dirty="0"/>
              <a:t>Traccia del laboratorio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4F14CEF-205B-0C08-0A06-82B44009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E4DB6AF-4CA5-F1AF-60DE-4AC9236D4298}"/>
              </a:ext>
            </a:extLst>
          </p:cNvPr>
          <p:cNvSpPr/>
          <p:nvPr userDrawn="1"/>
        </p:nvSpPr>
        <p:spPr>
          <a:xfrm>
            <a:off x="0" y="-2"/>
            <a:ext cx="12192000" cy="17919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590B833C-D2A8-59BC-D3D6-DC5153499B29}"/>
              </a:ext>
            </a:extLst>
          </p:cNvPr>
          <p:cNvSpPr txBox="1"/>
          <p:nvPr userDrawn="1"/>
        </p:nvSpPr>
        <p:spPr>
          <a:xfrm>
            <a:off x="9435948" y="349177"/>
            <a:ext cx="2337564" cy="1583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tabLst>
                <a:tab pos="982980" algn="l"/>
              </a:tabLst>
            </a:pPr>
            <a:r>
              <a:rPr lang="it-IT" sz="950" b="1" spc="300" dirty="0">
                <a:solidFill>
                  <a:schemeClr val="tx1"/>
                </a:solidFill>
                <a:latin typeface="Arial"/>
                <a:cs typeface="Arial"/>
              </a:rPr>
              <a:t>Autore: Nome Cognome</a:t>
            </a:r>
            <a:endParaRPr lang="it-IT" sz="950" spc="3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9" name="Elemento grafico 8">
            <a:extLst>
              <a:ext uri="{FF2B5EF4-FFF2-40B4-BE49-F238E27FC236}">
                <a16:creationId xmlns:a16="http://schemas.microsoft.com/office/drawing/2014/main" id="{545164C9-21E1-0EF7-17C2-2E5528B7FC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488" y="285335"/>
            <a:ext cx="2211023" cy="31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84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28854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fondo">
            <a:extLst>
              <a:ext uri="{FF2B5EF4-FFF2-40B4-BE49-F238E27FC236}">
                <a16:creationId xmlns:a16="http://schemas.microsoft.com/office/drawing/2014/main" id="{3151B56A-A6F1-5CFE-90D4-C91637CA43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8" name="bg object 16">
              <a:extLst>
                <a:ext uri="{FF2B5EF4-FFF2-40B4-BE49-F238E27FC236}">
                  <a16:creationId xmlns:a16="http://schemas.microsoft.com/office/drawing/2014/main" id="{F245C0BF-8E93-514B-6EA0-0DB46DDE199E}"/>
                </a:ext>
              </a:extLst>
            </p:cNvPr>
            <p:cNvPicPr/>
            <p:nvPr userDrawn="1"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9" name="Sfondo nero">
              <a:extLst>
                <a:ext uri="{FF2B5EF4-FFF2-40B4-BE49-F238E27FC236}">
                  <a16:creationId xmlns:a16="http://schemas.microsoft.com/office/drawing/2014/main" id="{7E15F8EB-6BFE-6BE4-8488-2A37B82D22A6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A234C8D3-EBFE-A5AB-FBEC-506345C26835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Neue Haas Grotesk Text Pro" panose="020B0504020202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6DDC59E2-35B7-B79B-0CDA-5FE67578D3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4735" y="2446545"/>
            <a:ext cx="5342528" cy="620212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E295F674-D64B-ECCA-4DA2-D47F8EABE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98283" y="3791244"/>
            <a:ext cx="7995432" cy="535518"/>
          </a:xfrm>
          <a:prstGeom prst="rect">
            <a:avLst/>
          </a:prstGeom>
        </p:spPr>
        <p:txBody>
          <a:bodyPr anchor="ctr"/>
          <a:lstStyle>
            <a:lvl1pPr algn="ctr">
              <a:defRPr sz="3600" b="1" spc="300">
                <a:solidFill>
                  <a:schemeClr val="bg1"/>
                </a:solidFill>
                <a:latin typeface="Neue Haas Grotesk Display Pro" panose="020D0304030502050203" pitchFamily="34" charset="0"/>
              </a:defRPr>
            </a:lvl1pPr>
          </a:lstStyle>
          <a:p>
            <a:r>
              <a:rPr lang="it-IT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73610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fondo">
            <a:extLst>
              <a:ext uri="{FF2B5EF4-FFF2-40B4-BE49-F238E27FC236}">
                <a16:creationId xmlns:a16="http://schemas.microsoft.com/office/drawing/2014/main" id="{0871CBC8-6163-D253-2648-0C5B2A35DADC}"/>
              </a:ext>
            </a:extLst>
          </p:cNvPr>
          <p:cNvGrpSpPr/>
          <p:nvPr userDrawn="1"/>
        </p:nvGrpSpPr>
        <p:grpSpPr>
          <a:xfrm>
            <a:off x="0" y="0"/>
            <a:ext cx="12191999" cy="6857998"/>
            <a:chOff x="0" y="0"/>
            <a:chExt cx="12191999" cy="6857998"/>
          </a:xfrm>
        </p:grpSpPr>
        <p:pic>
          <p:nvPicPr>
            <p:cNvPr id="7" name="bg object 16">
              <a:extLst>
                <a:ext uri="{FF2B5EF4-FFF2-40B4-BE49-F238E27FC236}">
                  <a16:creationId xmlns:a16="http://schemas.microsoft.com/office/drawing/2014/main" id="{D3B481F3-FDD2-E9B0-AAF0-6B05C97B7493}"/>
                </a:ext>
              </a:extLst>
            </p:cNvPr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8"/>
            </a:xfrm>
            <a:prstGeom prst="rect">
              <a:avLst/>
            </a:prstGeom>
          </p:spPr>
        </p:pic>
        <p:sp>
          <p:nvSpPr>
            <p:cNvPr id="8" name="Sfondo nero">
              <a:extLst>
                <a:ext uri="{FF2B5EF4-FFF2-40B4-BE49-F238E27FC236}">
                  <a16:creationId xmlns:a16="http://schemas.microsoft.com/office/drawing/2014/main" id="{2B2124EE-D2EC-EB26-C788-2D1671E2C0D4}"/>
                </a:ext>
              </a:extLst>
            </p:cNvPr>
            <p:cNvSpPr/>
            <p:nvPr userDrawn="1"/>
          </p:nvSpPr>
          <p:spPr>
            <a:xfrm>
              <a:off x="228600" y="203061"/>
              <a:ext cx="11734800" cy="6451878"/>
            </a:xfrm>
            <a:custGeom>
              <a:avLst/>
              <a:gdLst/>
              <a:ahLst/>
              <a:cxnLst/>
              <a:rect l="l" t="t" r="r" b="b"/>
              <a:pathLst>
                <a:path w="11506200" h="6248400">
                  <a:moveTo>
                    <a:pt x="11506200" y="0"/>
                  </a:moveTo>
                  <a:lnTo>
                    <a:pt x="0" y="0"/>
                  </a:lnTo>
                  <a:lnTo>
                    <a:pt x="0" y="6248400"/>
                  </a:lnTo>
                  <a:lnTo>
                    <a:pt x="11506200" y="6248400"/>
                  </a:lnTo>
                  <a:lnTo>
                    <a:pt x="1150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b="0" i="0" dirty="0">
                <a:latin typeface="Arial" panose="020B0604020202020204" pitchFamily="34" charset="0"/>
              </a:endParaRPr>
            </a:p>
          </p:txBody>
        </p:sp>
      </p:grpSp>
      <p:sp>
        <p:nvSpPr>
          <p:cNvPr id="6" name="Segnaposto numero diapositiva 5" hidden="1">
            <a:extLst>
              <a:ext uri="{FF2B5EF4-FFF2-40B4-BE49-F238E27FC236}">
                <a16:creationId xmlns:a16="http://schemas.microsoft.com/office/drawing/2014/main" id="{8BF62DA6-567D-9738-C9B4-B35130FB0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fld id="{EE05E91E-B103-4211-9892-B5CF4BF06646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08AF4DDA-AF5C-9192-0A90-B2EE16B1979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81312" y="3055807"/>
            <a:ext cx="6429375" cy="74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1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74" r:id="rId3"/>
    <p:sldLayoutId id="2147483692" r:id="rId4"/>
    <p:sldLayoutId id="2147483678" r:id="rId5"/>
    <p:sldLayoutId id="214748369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9659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614AE908-95ED-7A3B-515A-275CA83184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795046"/>
            <a:ext cx="10515600" cy="1445982"/>
          </a:xfrm>
        </p:spPr>
        <p:txBody>
          <a:bodyPr/>
          <a:lstStyle/>
          <a:p>
            <a:r>
              <a:rPr lang="it-IT" dirty="0"/>
              <a:t>Raccolta Docker Atomo</a:t>
            </a:r>
          </a:p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AC5512-E772-1D07-1956-6544F2732A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05E91E-B103-4211-9892-B5CF4BF06646}" type="slidenum">
              <a:rPr lang="it-IT" smtClean="0">
                <a:solidFill>
                  <a:srgbClr val="0C0C0D"/>
                </a:solidFill>
              </a:rPr>
              <a:pPr/>
              <a:t>2</a:t>
            </a:fld>
            <a:endParaRPr lang="it-IT" dirty="0">
              <a:solidFill>
                <a:srgbClr val="0C0C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79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C232A863-9AB2-F1DD-0EBE-01D055E0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LAB 1: Il Ciclo di Vita dei Container e la "Mortalità" dei Dati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B7AE27A-7139-F647-C23C-B014C3A3B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Obiettivo</a:t>
            </a:r>
            <a:r>
              <a:rPr lang="it-IT" dirty="0"/>
              <a:t>: Dominare la CLI di Docker, comprendere la differenza tra i segnali di stop (SIGTERM vs SIGKILL) e toccare con mano la natura effimera dei container creando e distruggendo dati.</a:t>
            </a:r>
          </a:p>
          <a:p>
            <a:endParaRPr lang="it-IT" dirty="0"/>
          </a:p>
          <a:p>
            <a:r>
              <a:rPr lang="it-IT" b="1" dirty="0"/>
              <a:t>Traccia:</a:t>
            </a:r>
            <a:r>
              <a:rPr lang="it-IT" dirty="0"/>
              <a:t> L'azienda vi chiede di avviare tre server web isolati per testare tre versioni di un file HTML. Dovete scaricare l'immagine ufficiale di </a:t>
            </a:r>
            <a:r>
              <a:rPr lang="it-IT" dirty="0" err="1"/>
              <a:t>Nginx</a:t>
            </a:r>
            <a:r>
              <a:rPr lang="it-IT" dirty="0"/>
              <a:t>, avviarla in background su tre porte diverse e modificare una pagina interna. Successivamente, simulerete un crash distruttivo per capire dove vanno a finire le modifiche.</a:t>
            </a:r>
          </a:p>
          <a:p>
            <a:endParaRPr lang="it-IT" dirty="0"/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72E248D2-9857-707B-C7D4-06B169AB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6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ED170-517E-A7B3-61F9-49831DD7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B50A020B-A937-BF7D-E1FC-BAE63DDA3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928568"/>
            <a:ext cx="9557362" cy="4803369"/>
          </a:xfrm>
        </p:spPr>
        <p:txBody>
          <a:bodyPr/>
          <a:lstStyle/>
          <a:p>
            <a:r>
              <a:rPr lang="it-IT" b="1" dirty="0"/>
              <a:t>1. Avvio coordinato su porte diverse</a:t>
            </a:r>
          </a:p>
          <a:p>
            <a:r>
              <a:rPr lang="it-IT" dirty="0"/>
              <a:t>Avviamo tre istanze di </a:t>
            </a:r>
            <a:r>
              <a:rPr lang="it-IT" dirty="0" err="1"/>
              <a:t>Nginx</a:t>
            </a:r>
            <a:r>
              <a:rPr lang="it-IT" dirty="0"/>
              <a:t> mappando le porte del PC Windows (8081, 8082, 8083) sulla porta standard interna 80 di </a:t>
            </a:r>
            <a:r>
              <a:rPr lang="it-IT" dirty="0" err="1"/>
              <a:t>Nginx</a:t>
            </a:r>
            <a:r>
              <a:rPr lang="it-IT" dirty="0"/>
              <a:t>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web-alfa -p 8081:80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web-beta -p 8082:80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web-gamma -p 8083:80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b="1" dirty="0"/>
              <a:t>2. Il blocco del Terminale (Cosa succede se dimenticano il flag -d?)</a:t>
            </a:r>
          </a:p>
          <a:p>
            <a:r>
              <a:rPr lang="it-IT" dirty="0"/>
              <a:t>Fai eseguire questo comando senza il flag -d: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--name web-bloccato -p 8084:80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Cosa succede: Il terminale si "inchioda" e mostra i log in tempo reale di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  <a:p>
            <a:r>
              <a:rPr lang="it-IT" dirty="0"/>
              <a:t>Senza -d (</a:t>
            </a:r>
            <a:r>
              <a:rPr lang="it-IT" dirty="0" err="1"/>
              <a:t>Detached</a:t>
            </a:r>
            <a:r>
              <a:rPr lang="it-IT" dirty="0"/>
              <a:t>), il container gira in </a:t>
            </a:r>
            <a:r>
              <a:rPr lang="it-IT" dirty="0" err="1"/>
              <a:t>Foreground</a:t>
            </a:r>
            <a:r>
              <a:rPr lang="it-IT" dirty="0"/>
              <a:t>. </a:t>
            </a:r>
          </a:p>
          <a:p>
            <a:r>
              <a:rPr lang="it-IT" dirty="0">
                <a:solidFill>
                  <a:srgbClr val="171FE2"/>
                </a:solidFill>
              </a:rPr>
              <a:t>Premere CTRL + C (che però invierà un segnale di spegnimento al container).</a:t>
            </a:r>
            <a:endParaRPr lang="sv-SE" dirty="0">
              <a:solidFill>
                <a:srgbClr val="171FE2"/>
              </a:solidFill>
            </a:endParaRPr>
          </a:p>
          <a:p>
            <a:endParaRPr lang="it-IT" dirty="0"/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D6E99982-0D58-D9AD-6D29-288B4EEB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24584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5ACA7-900C-2ED8-3891-302CFDE8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845CF70-F363-E597-AC17-2BEBEF0AA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027315"/>
            <a:ext cx="9557362" cy="4803369"/>
          </a:xfrm>
        </p:spPr>
        <p:txBody>
          <a:bodyPr/>
          <a:lstStyle/>
          <a:p>
            <a:r>
              <a:rPr lang="it-IT" b="1" dirty="0"/>
              <a:t>3. Entriamo dentro il container a modificare il file (Senza Volumi)</a:t>
            </a:r>
          </a:p>
          <a:p>
            <a:r>
              <a:rPr lang="it-IT" dirty="0"/>
              <a:t>Entriamo nel file-system isolato del container web-alfa usando una sessione interattiva Bash/Sh: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exec -it web-alfa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sh</a:t>
            </a:r>
            <a:endParaRPr lang="en-US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l'opzione -</a:t>
            </a:r>
            <a:r>
              <a:rPr lang="it-IT" dirty="0" err="1"/>
              <a:t>it</a:t>
            </a:r>
            <a:r>
              <a:rPr lang="it-IT" dirty="0"/>
              <a:t> è in realtà la combinazione di due flag:</a:t>
            </a:r>
          </a:p>
          <a:p>
            <a:r>
              <a:rPr lang="it-IT" dirty="0"/>
              <a:t>-i (--interactive): mantiene aperto lo </a:t>
            </a:r>
            <a:r>
              <a:rPr lang="it-IT" b="1" dirty="0" err="1"/>
              <a:t>stdin</a:t>
            </a:r>
            <a:r>
              <a:rPr lang="it-IT" dirty="0"/>
              <a:t> del container, permettendoti di inserire comandi. </a:t>
            </a:r>
          </a:p>
          <a:p>
            <a:r>
              <a:rPr lang="it-IT" dirty="0"/>
              <a:t>-t (--</a:t>
            </a:r>
            <a:r>
              <a:rPr lang="it-IT" dirty="0" err="1"/>
              <a:t>tty</a:t>
            </a:r>
            <a:r>
              <a:rPr lang="it-IT" dirty="0"/>
              <a:t>): alloca un </a:t>
            </a:r>
            <a:r>
              <a:rPr lang="it-IT" b="1" dirty="0"/>
              <a:t>terminale virtuale (TTY)</a:t>
            </a:r>
            <a:r>
              <a:rPr lang="it-IT" dirty="0"/>
              <a:t>, così hai una shell interattiva con prompt, colori, gestione dei caratteri, ecc.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Il prompt cambia (es. #). Siamo dentro Linux </a:t>
            </a:r>
            <a:r>
              <a:rPr lang="it-IT" dirty="0" err="1"/>
              <a:t>Nginx</a:t>
            </a:r>
            <a:r>
              <a:rPr lang="it-IT" dirty="0"/>
              <a:t>. Modifichiamo la pagina iniziale "Welcome to </a:t>
            </a:r>
            <a:r>
              <a:rPr lang="it-IT" dirty="0" err="1"/>
              <a:t>Nginx</a:t>
            </a:r>
            <a:r>
              <a:rPr lang="it-IT" dirty="0"/>
              <a:t>":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echo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"&lt;h1&gt;Proprietà di Mirko - Versione Alfa sbloccata!&lt;/h1&gt;" &gt; 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/html/index.html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exit</a:t>
            </a:r>
          </a:p>
          <a:p>
            <a:r>
              <a:rPr lang="it-IT" i="1" dirty="0"/>
              <a:t>Verifica:</a:t>
            </a:r>
            <a:r>
              <a:rPr lang="it-IT" dirty="0"/>
              <a:t> Apri Chrome su http://localhost:8081. Vedrai la scritta personalizzata. Se vai su http://localhost:8082, vedrai la pagina standard. I due mondi sono isolati.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7D257CA2-AEA3-9BD8-452D-8CF8A806A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73985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F3507-2CAB-86D6-A77D-1F7AABC85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F1C7866B-AE7A-D5B7-8829-1D56AFC70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4. Il Crash Test: Dimostrazione della natura effimera</a:t>
            </a:r>
          </a:p>
          <a:p>
            <a:r>
              <a:rPr lang="it-IT" dirty="0"/>
              <a:t>Ora simuliamo un crash distruttivo di web-alfa: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-f web-alfa</a:t>
            </a:r>
          </a:p>
          <a:p>
            <a:r>
              <a:rPr lang="it-IT" dirty="0"/>
              <a:t>Rilanciamo immediatamente lo stesso identico container con lo stesso comando: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run -d --name web-alfa -p 8081:80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en-US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Fai aggiornare Chrome su http://localhost:8081. </a:t>
            </a:r>
            <a:r>
              <a:rPr lang="it-IT" b="1" dirty="0"/>
              <a:t>La modifica è sparita ed è tornato il "Welcome to </a:t>
            </a:r>
            <a:r>
              <a:rPr lang="it-IT" b="1" dirty="0" err="1"/>
              <a:t>Nginx</a:t>
            </a:r>
            <a:r>
              <a:rPr lang="it-IT" b="1" dirty="0"/>
              <a:t>" standard.</a:t>
            </a:r>
          </a:p>
          <a:p>
            <a:r>
              <a:rPr lang="it-IT" i="1" dirty="0"/>
              <a:t>I container sono per definizione </a:t>
            </a:r>
            <a:r>
              <a:rPr lang="it-IT" b="1" i="1" dirty="0"/>
              <a:t>effimeri (</a:t>
            </a:r>
            <a:r>
              <a:rPr lang="it-IT" b="1" i="1" dirty="0" err="1"/>
              <a:t>stateless</a:t>
            </a:r>
            <a:r>
              <a:rPr lang="it-IT" b="1" i="1" dirty="0"/>
              <a:t>)</a:t>
            </a:r>
            <a:r>
              <a:rPr lang="it-IT" i="1" dirty="0"/>
              <a:t>. Quando un container viene cancellato, il suo </a:t>
            </a:r>
            <a:r>
              <a:rPr lang="it-IT" i="1" dirty="0" err="1"/>
              <a:t>Writable</a:t>
            </a:r>
            <a:r>
              <a:rPr lang="it-IT" i="1" dirty="0"/>
              <a:t> Layer (lo strato di scrittura temporaneo) viene polverizzato dal Docker </a:t>
            </a:r>
            <a:r>
              <a:rPr lang="it-IT" i="1" dirty="0" err="1"/>
              <a:t>Daemon</a:t>
            </a:r>
            <a:r>
              <a:rPr lang="it-IT" i="1" dirty="0"/>
              <a:t>. Modificare i file direttamente dentro un container funzionante è il reato più grave per un ingegnere </a:t>
            </a:r>
            <a:r>
              <a:rPr lang="it-IT" i="1" dirty="0" err="1"/>
              <a:t>DevOps</a:t>
            </a:r>
            <a:r>
              <a:rPr lang="it-IT" i="1" dirty="0"/>
              <a:t>: al primo riavvio o aggiornamento dell'immagine, i dati del cliente sono persi per sempre."</a:t>
            </a:r>
            <a:endParaRPr lang="it-IT" dirty="0"/>
          </a:p>
          <a:p>
            <a:endParaRPr lang="it-IT" dirty="0"/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DE2F1D92-C4DD-9FDF-D926-2A192CC7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1001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CA0E-79B9-97D9-7B9A-9861B995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186D7261-D932-68E6-8F66-CDE5A0415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736544"/>
            <a:ext cx="9557362" cy="4803369"/>
          </a:xfrm>
        </p:spPr>
        <p:txBody>
          <a:bodyPr/>
          <a:lstStyle/>
          <a:p>
            <a:r>
              <a:rPr lang="it-IT" dirty="0"/>
              <a:t>Il </a:t>
            </a:r>
            <a:r>
              <a:rPr lang="it-IT" b="1" dirty="0" err="1"/>
              <a:t>writable</a:t>
            </a:r>
            <a:r>
              <a:rPr lang="it-IT" b="1" dirty="0"/>
              <a:t> </a:t>
            </a:r>
            <a:r>
              <a:rPr lang="it-IT" b="1" dirty="0" err="1"/>
              <a:t>layer</a:t>
            </a:r>
            <a:r>
              <a:rPr lang="it-IT" dirty="0"/>
              <a:t> (o </a:t>
            </a:r>
            <a:r>
              <a:rPr lang="it-IT" i="1" dirty="0"/>
              <a:t>container </a:t>
            </a:r>
            <a:r>
              <a:rPr lang="it-IT" i="1" dirty="0" err="1"/>
              <a:t>layer</a:t>
            </a:r>
            <a:r>
              <a:rPr lang="it-IT" dirty="0"/>
              <a:t>) è il livello scrivibile che Docker aggiunge sopra i </a:t>
            </a:r>
            <a:r>
              <a:rPr lang="it-IT" dirty="0" err="1"/>
              <a:t>layer</a:t>
            </a:r>
            <a:r>
              <a:rPr lang="it-IT" dirty="0"/>
              <a:t> immutabili dell'immagine quando avvii un container.</a:t>
            </a:r>
          </a:p>
          <a:p>
            <a:r>
              <a:rPr lang="it-IT" b="1" dirty="0"/>
              <a:t>Come sono organizzati i </a:t>
            </a:r>
            <a:r>
              <a:rPr lang="it-IT" b="1" dirty="0" err="1"/>
              <a:t>layer</a:t>
            </a:r>
            <a:endParaRPr lang="it-IT" b="1" dirty="0"/>
          </a:p>
          <a:p>
            <a:r>
              <a:rPr lang="it-IT" dirty="0"/>
              <a:t>Un'immagine Docker è composta da più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b="1" dirty="0" err="1"/>
              <a:t>read-only</a:t>
            </a:r>
            <a:r>
              <a:rPr lang="it-IT" dirty="0"/>
              <a:t>:</a:t>
            </a:r>
          </a:p>
          <a:p>
            <a:r>
              <a:rPr lang="en-US" sz="1400" dirty="0"/>
              <a:t>Container</a:t>
            </a:r>
          </a:p>
          <a:p>
            <a:r>
              <a:rPr lang="en-US" sz="1400" dirty="0"/>
              <a:t>└── Writable Layer (</a:t>
            </a:r>
            <a:r>
              <a:rPr lang="en-US" sz="1400" dirty="0" err="1"/>
              <a:t>scrivibile</a:t>
            </a:r>
            <a:r>
              <a:rPr lang="en-US" sz="1400" dirty="0"/>
              <a:t>)</a:t>
            </a:r>
          </a:p>
          <a:p>
            <a:r>
              <a:rPr lang="en-US" sz="1400" dirty="0"/>
              <a:t>    ├── Layer </a:t>
            </a:r>
            <a:r>
              <a:rPr lang="en-US" sz="1400" dirty="0" err="1"/>
              <a:t>immagine</a:t>
            </a:r>
            <a:r>
              <a:rPr lang="en-US" sz="1400" dirty="0"/>
              <a:t> 3 (read-only)</a:t>
            </a:r>
          </a:p>
          <a:p>
            <a:r>
              <a:rPr lang="en-US" sz="1400" dirty="0"/>
              <a:t>    ├── Layer </a:t>
            </a:r>
            <a:r>
              <a:rPr lang="en-US" sz="1400" dirty="0" err="1"/>
              <a:t>immagine</a:t>
            </a:r>
            <a:r>
              <a:rPr lang="en-US" sz="1400" dirty="0"/>
              <a:t> 2 (read-only)</a:t>
            </a:r>
          </a:p>
          <a:p>
            <a:r>
              <a:rPr lang="en-US" sz="1400" dirty="0"/>
              <a:t>    └── Layer </a:t>
            </a:r>
            <a:r>
              <a:rPr lang="en-US" sz="1400" dirty="0" err="1"/>
              <a:t>immagine</a:t>
            </a:r>
            <a:r>
              <a:rPr lang="en-US" sz="1400" dirty="0"/>
              <a:t> 1 (read-only)</a:t>
            </a:r>
            <a:endParaRPr lang="it-IT" sz="1400" dirty="0"/>
          </a:p>
          <a:p>
            <a:r>
              <a:rPr lang="it-IT" dirty="0">
                <a:solidFill>
                  <a:srgbClr val="171FE2"/>
                </a:solidFill>
              </a:rPr>
              <a:t>Docker non modifica mai l'immagine originale, ma usa il meccanismo di </a:t>
            </a:r>
            <a:r>
              <a:rPr lang="it-IT" b="1" dirty="0">
                <a:solidFill>
                  <a:srgbClr val="171FE2"/>
                </a:solidFill>
              </a:rPr>
              <a:t>Copy-on-Write (</a:t>
            </a:r>
            <a:r>
              <a:rPr lang="it-IT" b="1" dirty="0" err="1">
                <a:solidFill>
                  <a:srgbClr val="171FE2"/>
                </a:solidFill>
              </a:rPr>
              <a:t>CoW</a:t>
            </a:r>
            <a:r>
              <a:rPr lang="it-IT" b="1" dirty="0">
                <a:solidFill>
                  <a:srgbClr val="171FE2"/>
                </a:solidFill>
              </a:rPr>
              <a:t>)</a:t>
            </a:r>
            <a:r>
              <a:rPr lang="it-IT" dirty="0">
                <a:solidFill>
                  <a:srgbClr val="171FE2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il file originale rimane nel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read-only</a:t>
            </a:r>
            <a:r>
              <a:rPr lang="it-IT" dirty="0"/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viene copiata una versione nel </a:t>
            </a:r>
            <a:r>
              <a:rPr lang="it-IT" dirty="0" err="1"/>
              <a:t>writable</a:t>
            </a:r>
            <a:r>
              <a:rPr lang="it-IT" dirty="0"/>
              <a:t> </a:t>
            </a:r>
            <a:r>
              <a:rPr lang="it-IT" dirty="0" err="1"/>
              <a:t>layer</a:t>
            </a:r>
            <a:r>
              <a:rPr lang="it-IT" dirty="0"/>
              <a:t>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la modifica viene applicata alla copia;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da quel momento il container vede la versione modificata.</a:t>
            </a:r>
          </a:p>
          <a:p>
            <a:r>
              <a:rPr lang="it-IT" dirty="0"/>
              <a:t>Docker non può cancellare il file dal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read-only</a:t>
            </a:r>
            <a:r>
              <a:rPr lang="it-IT" dirty="0"/>
              <a:t>.</a:t>
            </a:r>
          </a:p>
          <a:p>
            <a:r>
              <a:rPr lang="it-IT" dirty="0">
                <a:solidFill>
                  <a:srgbClr val="171FE2"/>
                </a:solidFill>
              </a:rPr>
              <a:t>Crea invece una speciale entry chiamata </a:t>
            </a:r>
            <a:r>
              <a:rPr lang="it-IT" b="1" dirty="0" err="1">
                <a:solidFill>
                  <a:srgbClr val="171FE2"/>
                </a:solidFill>
              </a:rPr>
              <a:t>whiteout</a:t>
            </a:r>
            <a:r>
              <a:rPr lang="it-IT" b="1" dirty="0">
                <a:solidFill>
                  <a:srgbClr val="171FE2"/>
                </a:solidFill>
              </a:rPr>
              <a:t> file</a:t>
            </a:r>
            <a:r>
              <a:rPr lang="it-IT" dirty="0">
                <a:solidFill>
                  <a:srgbClr val="171FE2"/>
                </a:solidFill>
              </a:rPr>
              <a:t> nel </a:t>
            </a:r>
            <a:r>
              <a:rPr lang="it-IT" dirty="0" err="1">
                <a:solidFill>
                  <a:srgbClr val="171FE2"/>
                </a:solidFill>
              </a:rPr>
              <a:t>writable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che "nasconde" il file originale.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B4A7C079-DA04-6171-B19F-CCA49190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66968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7189F-560D-F35F-1F81-A828E2BD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5DCEDECC-6DE1-23A1-33D9-6F55B6F7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LAB 2: La Persistenza dei Dati – </a:t>
            </a:r>
            <a:r>
              <a:rPr lang="it-IT" dirty="0" err="1"/>
              <a:t>Named</a:t>
            </a:r>
            <a:r>
              <a:rPr lang="it-IT" dirty="0"/>
              <a:t> </a:t>
            </a:r>
            <a:r>
              <a:rPr lang="it-IT" dirty="0" err="1"/>
              <a:t>Volumes</a:t>
            </a:r>
            <a:r>
              <a:rPr lang="it-IT" dirty="0"/>
              <a:t> vs </a:t>
            </a:r>
            <a:r>
              <a:rPr lang="it-IT" dirty="0" err="1"/>
              <a:t>Bind</a:t>
            </a:r>
            <a:r>
              <a:rPr lang="it-IT" dirty="0"/>
              <a:t> </a:t>
            </a:r>
            <a:r>
              <a:rPr lang="it-IT" dirty="0" err="1"/>
              <a:t>Mounts</a:t>
            </a:r>
            <a:endParaRPr lang="it-IT" dirty="0"/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29B8ACD-8605-72B1-339B-6D9D8489A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Obiettivo: Risolvere la perdita dei dati del LAB 1. Padroneggiare i due sistemi di persistenza di Docker, capendo quando usare i Volumi (gestiti da Docker) e quando i </a:t>
            </a:r>
            <a:r>
              <a:rPr lang="it-IT" dirty="0" err="1"/>
              <a:t>Bind</a:t>
            </a:r>
            <a:r>
              <a:rPr lang="it-IT" dirty="0"/>
              <a:t> </a:t>
            </a:r>
            <a:r>
              <a:rPr lang="it-IT" dirty="0" err="1"/>
              <a:t>Mounts</a:t>
            </a:r>
            <a:r>
              <a:rPr lang="it-IT" dirty="0"/>
              <a:t> (cartelle di Windows).</a:t>
            </a:r>
          </a:p>
          <a:p>
            <a:r>
              <a:rPr lang="it-IT" b="1" dirty="0"/>
              <a:t>Traccia:</a:t>
            </a:r>
            <a:r>
              <a:rPr lang="it-IT" dirty="0"/>
              <a:t> Il vostro cliente non vuole più perdere i dati del sito in caso di crash. Dovete configurare due strategie: un </a:t>
            </a:r>
            <a:r>
              <a:rPr lang="it-IT" b="1" dirty="0" err="1"/>
              <a:t>Named</a:t>
            </a:r>
            <a:r>
              <a:rPr lang="it-IT" b="1" dirty="0"/>
              <a:t> Volume</a:t>
            </a:r>
            <a:r>
              <a:rPr lang="it-IT" dirty="0"/>
              <a:t> per i file di log di produzione e un </a:t>
            </a:r>
            <a:r>
              <a:rPr lang="it-IT" b="1" dirty="0" err="1"/>
              <a:t>Bind</a:t>
            </a:r>
            <a:r>
              <a:rPr lang="it-IT" b="1" dirty="0"/>
              <a:t> Mount</a:t>
            </a:r>
            <a:r>
              <a:rPr lang="it-IT" dirty="0"/>
              <a:t> per mappare una cartella del vostro Desktop Windows dentro il container, permettendovi di modificare il codice HTML da VS Code senza riavviare nulla.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52F61DD9-1D8E-BEE9-ADD3-1C4EEA3CD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395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A7B9-DB08-8126-7289-446150F0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350EB89-609C-8704-99EC-57DF51844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PARTE 1: La via Enterprise – Il </a:t>
            </a:r>
            <a:r>
              <a:rPr lang="it-IT" b="1" dirty="0" err="1"/>
              <a:t>Named</a:t>
            </a:r>
            <a:r>
              <a:rPr lang="it-IT" b="1" dirty="0"/>
              <a:t> Volume</a:t>
            </a:r>
          </a:p>
          <a:p>
            <a:r>
              <a:rPr lang="it-IT" dirty="0"/>
              <a:t>Creiamo uno spazio di archiviazione sicuro gestito interamente dal Docker </a:t>
            </a:r>
            <a:r>
              <a:rPr lang="it-IT" dirty="0" err="1"/>
              <a:t>Daemon</a:t>
            </a:r>
            <a:r>
              <a:rPr lang="it-IT" dirty="0"/>
              <a:t>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volume </a:t>
            </a:r>
            <a:r>
              <a:rPr lang="it-IT" dirty="0">
                <a:solidFill>
                  <a:srgbClr val="FF0000"/>
                </a:solidFill>
                <a:latin typeface="Consolas" panose="020B0609020204030204" pitchFamily="49" charset="0"/>
              </a:rPr>
              <a:t>create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dati-persistenti-web</a:t>
            </a:r>
          </a:p>
          <a:p>
            <a:r>
              <a:rPr lang="it-IT" dirty="0"/>
              <a:t>Ispezioniamo dove Docker nasconde questo volume: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volume </a:t>
            </a:r>
            <a:r>
              <a:rPr lang="it-IT" dirty="0" err="1">
                <a:solidFill>
                  <a:srgbClr val="FF0000"/>
                </a:solidFill>
                <a:latin typeface="Consolas" panose="020B0609020204030204" pitchFamily="49" charset="0"/>
              </a:rPr>
              <a:t>inspect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dati-persistenti-web</a:t>
            </a:r>
          </a:p>
          <a:p>
            <a:r>
              <a:rPr lang="it-IT" dirty="0"/>
              <a:t>Sotto la voce "</a:t>
            </a:r>
            <a:r>
              <a:rPr lang="it-IT" dirty="0" err="1"/>
              <a:t>Mountpoint</a:t>
            </a:r>
            <a:r>
              <a:rPr lang="it-IT" dirty="0"/>
              <a:t>", vedremo un percorso Linux (es. /var/</a:t>
            </a:r>
            <a:r>
              <a:rPr lang="it-IT" dirty="0" err="1"/>
              <a:t>lib</a:t>
            </a:r>
            <a:r>
              <a:rPr lang="it-IT" dirty="0"/>
              <a:t>/</a:t>
            </a:r>
            <a:r>
              <a:rPr lang="it-IT" dirty="0" err="1"/>
              <a:t>docker</a:t>
            </a:r>
            <a:r>
              <a:rPr lang="it-IT" dirty="0"/>
              <a:t>/</a:t>
            </a:r>
            <a:r>
              <a:rPr lang="it-IT" dirty="0" err="1"/>
              <a:t>volumes</a:t>
            </a:r>
            <a:r>
              <a:rPr lang="it-IT" dirty="0"/>
              <a:t>/...). Su Windows quel percorso si trova dentro la macchina virtuale nascosta di WSL2, non raggiungibile.</a:t>
            </a:r>
          </a:p>
          <a:p>
            <a:r>
              <a:rPr lang="it-IT" dirty="0"/>
              <a:t>Avviamo un nuovo container </a:t>
            </a:r>
            <a:r>
              <a:rPr lang="it-IT" dirty="0" err="1"/>
              <a:t>Nginx</a:t>
            </a:r>
            <a:r>
              <a:rPr lang="it-IT" dirty="0"/>
              <a:t> agganciando questo volume sulla cartella dei dati di </a:t>
            </a:r>
            <a:r>
              <a:rPr lang="it-IT" dirty="0" err="1"/>
              <a:t>Nginx</a:t>
            </a:r>
            <a:r>
              <a:rPr lang="it-IT" dirty="0"/>
              <a:t> (:/</a:t>
            </a:r>
            <a:r>
              <a:rPr lang="it-IT" dirty="0" err="1"/>
              <a:t>usr</a:t>
            </a:r>
            <a:r>
              <a:rPr lang="it-IT" dirty="0"/>
              <a:t>/share/</a:t>
            </a:r>
            <a:r>
              <a:rPr lang="it-IT" dirty="0" err="1"/>
              <a:t>nginx</a:t>
            </a:r>
            <a:r>
              <a:rPr lang="it-IT" dirty="0"/>
              <a:t>/html):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web-sicuro -p 8085:80 -v dati-persistenti-web:/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01178EB1-0456-7669-1C94-7BBDB00A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7049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9CB2B-9250-B2DD-021A-08529904C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CFF19BA8-7E1C-A908-FB0A-91996B37C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027315"/>
            <a:ext cx="9557362" cy="4803369"/>
          </a:xfrm>
        </p:spPr>
        <p:txBody>
          <a:bodyPr/>
          <a:lstStyle/>
          <a:p>
            <a:r>
              <a:rPr lang="it-IT" dirty="0"/>
              <a:t>Scriviamo nel file index.html di </a:t>
            </a:r>
            <a:r>
              <a:rPr lang="it-IT" dirty="0" err="1"/>
              <a:t>Nginx</a:t>
            </a:r>
            <a:r>
              <a:rPr lang="it-IT" dirty="0"/>
              <a:t>, distruggiamo il container e verifichiamo la persistenza: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exec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it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web-sicuro sh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echo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"Ciao a tutti!!!" &gt; 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/html/index.html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exit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# Distruggiamo brutalmente il container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-f web-sicuro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# Lo ricreiamo agganciando lo stesso volume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web-sicuro -p 8085:80 -v dati-persistenti-web:/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i="1" dirty="0"/>
              <a:t>Verifica:</a:t>
            </a:r>
            <a:r>
              <a:rPr lang="it-IT" dirty="0"/>
              <a:t> Su http://localhost:8085 la scritta c'è ancora! Il volume è sopravvissuto alla morte del container.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DF558CC5-3F08-8791-01FE-EEFA03BA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3474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9149C-F425-A5B8-76DF-7CB74667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EA546327-02BB-6CCB-54DE-6709D093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138880"/>
            <a:ext cx="9557362" cy="4803369"/>
          </a:xfrm>
        </p:spPr>
        <p:txBody>
          <a:bodyPr/>
          <a:lstStyle/>
          <a:p>
            <a:r>
              <a:rPr lang="it-IT" b="1" dirty="0"/>
              <a:t>PARTE 2: </a:t>
            </a:r>
            <a:r>
              <a:rPr lang="it-IT" dirty="0"/>
              <a:t>La via dello Sviluppatore – Il </a:t>
            </a:r>
            <a:r>
              <a:rPr lang="it-IT" dirty="0" err="1"/>
              <a:t>Bind</a:t>
            </a:r>
            <a:r>
              <a:rPr lang="it-IT" dirty="0"/>
              <a:t> Mount</a:t>
            </a:r>
          </a:p>
          <a:p>
            <a:r>
              <a:rPr lang="it-IT" dirty="0"/>
              <a:t>Creiamo una cartella sul Desktop Windows chiamata sito-web e dentro creiamo un file index.html con scritto: &lt;h1&gt;Sito in Sviluppo da Windows! 💻&lt;/h1&gt;.</a:t>
            </a:r>
          </a:p>
          <a:p>
            <a:r>
              <a:rPr lang="it-IT" b="1" dirty="0"/>
              <a:t>Ora colleghiamo direttamente la cartella fisica di Windows dentro il container</a:t>
            </a:r>
            <a:r>
              <a:rPr lang="it-IT" dirty="0"/>
              <a:t>. </a:t>
            </a:r>
          </a:p>
          <a:p>
            <a:r>
              <a:rPr lang="it-IT" dirty="0"/>
              <a:t>Spostiamoci da terminale sul Desktop: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cd C:\Users\mirko\Desktop\sito-web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web-developer -p 8086:80 -v ${PWD}:/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i="1" dirty="0"/>
              <a:t>Nota tecnica per te:</a:t>
            </a:r>
            <a:r>
              <a:rPr lang="it-IT" dirty="0"/>
              <a:t> Il flag -v ${PWD}:... prende la cartella corrente e la proietta nel container.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In alternativa: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web-developer -p 8086:80 -v C:\Users\mirko\Desktop\sito-web:/usr/share/nginx/html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In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/>
              <a:t>questo modo le modifiche di codice fatte nella cartella di Windows si presentano nel container senza doverlo riavviare.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B1AE1639-5938-338A-8C7F-A2F2BF2B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71226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EA5A4-947E-6404-343F-20945335E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B74FDC5A-3F0C-B48A-90DA-848591074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LAB 3: Il Networking Isolato – Comunicazione via DNS interno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F6A557C-BD93-430C-0B5E-025CE75DB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Obiettivo</a:t>
            </a:r>
            <a:r>
              <a:rPr lang="it-IT" dirty="0"/>
              <a:t>: Capire perché la rete di default (bridge) non permette la comunicazione tramite nome del container e come le reti personalizzate attivino un server DNS interno automatico.</a:t>
            </a:r>
          </a:p>
          <a:p>
            <a:r>
              <a:rPr lang="it-IT" b="1" dirty="0"/>
              <a:t>Traccia:</a:t>
            </a:r>
            <a:r>
              <a:rPr lang="it-IT" dirty="0"/>
              <a:t> Avete un </a:t>
            </a:r>
            <a:r>
              <a:rPr lang="it-IT" dirty="0" err="1"/>
              <a:t>backend</a:t>
            </a:r>
            <a:r>
              <a:rPr lang="it-IT" dirty="0"/>
              <a:t> Python che deve inviare dati a un database </a:t>
            </a:r>
            <a:r>
              <a:rPr lang="it-IT" dirty="0" err="1"/>
              <a:t>MariaDB</a:t>
            </a:r>
            <a:r>
              <a:rPr lang="it-IT" dirty="0"/>
              <a:t>. Di default i container sono isolati. Dovete creare un'autostrada virtuale dedicata, connettere i due container usando i loro nomi logici.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A4DAD9FE-977B-BBCD-4DD6-B66559E8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098638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E4D6B-7EC5-6D90-2102-8F7963F34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3CBD09AF-0D8A-DC74-8EDE-8E80F2A90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1. Il problema della comunicazione dei container su bridge</a:t>
            </a:r>
          </a:p>
          <a:p>
            <a:r>
              <a:rPr lang="it-IT" dirty="0"/>
              <a:t>Avviamo un database: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-standard -e MARIADB_ROOT_PASSWORD=pass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mariadb:latest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Ora chiediamo a Docker di mostrarci la mappa della rete standard (</a:t>
            </a:r>
            <a:r>
              <a:rPr lang="it-IT" b="1" dirty="0"/>
              <a:t>bridge</a:t>
            </a:r>
            <a:r>
              <a:rPr lang="it-IT" dirty="0"/>
              <a:t>):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network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inspect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bridge</a:t>
            </a:r>
          </a:p>
          <a:p>
            <a:r>
              <a:rPr lang="it-IT" dirty="0"/>
              <a:t>Scorrendo l'output fino alla sezione "Containers" vedremo </a:t>
            </a:r>
            <a:r>
              <a:rPr lang="it-IT" dirty="0" err="1"/>
              <a:t>db</a:t>
            </a:r>
            <a:r>
              <a:rPr lang="it-IT" dirty="0"/>
              <a:t>-standard con un IP numerico (es. 172.17.0.2):</a:t>
            </a:r>
          </a:p>
          <a:p>
            <a:r>
              <a:rPr lang="en-US" dirty="0"/>
              <a:t>"Containers": {</a:t>
            </a:r>
          </a:p>
          <a:p>
            <a:r>
              <a:rPr lang="en-US" dirty="0"/>
              <a:t>            "70ac4f93cd1427e40f4e83387557d48a509cd22ea95a00ed3a3884496ff70ba9": {</a:t>
            </a:r>
          </a:p>
          <a:p>
            <a:r>
              <a:rPr lang="en-US" dirty="0"/>
              <a:t>                "Name": "</a:t>
            </a:r>
            <a:r>
              <a:rPr lang="en-US" dirty="0" err="1"/>
              <a:t>db</a:t>
            </a:r>
            <a:r>
              <a:rPr lang="en-US" dirty="0"/>
              <a:t>-standard",</a:t>
            </a:r>
          </a:p>
          <a:p>
            <a:r>
              <a:rPr lang="en-US" dirty="0"/>
              <a:t>                "IPv4Address": "172.17.0.2/16",</a:t>
            </a:r>
          </a:p>
          <a:p>
            <a:r>
              <a:rPr lang="en-US" dirty="0"/>
              <a:t>	…</a:t>
            </a:r>
            <a:endParaRPr lang="it-IT" dirty="0"/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A1FEE157-4435-DD61-A5DA-68DAC351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38146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8674-7A27-2887-FBAD-9F7C2DF6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3B745B4-371B-A815-6A5B-F4BBCC7C3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Nell'ispezione della rete il nome '</a:t>
            </a:r>
            <a:r>
              <a:rPr lang="it-IT" dirty="0" err="1"/>
              <a:t>db</a:t>
            </a:r>
            <a:r>
              <a:rPr lang="it-IT" dirty="0"/>
              <a:t>-standard' compare chiaramente. Quindi Docker sa benissimo come si chiama questo container.</a:t>
            </a:r>
          </a:p>
          <a:p>
            <a:r>
              <a:rPr lang="it-IT" dirty="0"/>
              <a:t>Tuttavia, nella rete di default, Docker tiene questo registro sotto chiave. Un container </a:t>
            </a:r>
            <a:r>
              <a:rPr lang="it-IT" dirty="0" err="1"/>
              <a:t>backend</a:t>
            </a:r>
            <a:r>
              <a:rPr lang="it-IT" dirty="0"/>
              <a:t> che lo vuole raggiungere non ha il permesso di consultare questo elenco. Di conseguenza, anche se il nome esiste nel sistema, il </a:t>
            </a:r>
            <a:r>
              <a:rPr lang="it-IT" dirty="0" err="1"/>
              <a:t>backend</a:t>
            </a:r>
            <a:r>
              <a:rPr lang="it-IT" dirty="0"/>
              <a:t> è costretto a usare il numero IP 172.17.0.2 per connettersi.</a:t>
            </a:r>
          </a:p>
          <a:p>
            <a:r>
              <a:rPr lang="it-IT" dirty="0">
                <a:solidFill>
                  <a:srgbClr val="171FE2"/>
                </a:solidFill>
              </a:rPr>
              <a:t>Se il database si riavvia e il numero cambia, il </a:t>
            </a:r>
            <a:r>
              <a:rPr lang="it-IT" dirty="0" err="1">
                <a:solidFill>
                  <a:srgbClr val="171FE2"/>
                </a:solidFill>
              </a:rPr>
              <a:t>backend</a:t>
            </a:r>
            <a:r>
              <a:rPr lang="it-IT" dirty="0">
                <a:solidFill>
                  <a:srgbClr val="171FE2"/>
                </a:solidFill>
              </a:rPr>
              <a:t> non lo può più raggiungere.</a:t>
            </a:r>
          </a:p>
          <a:p>
            <a:r>
              <a:rPr lang="it-IT" b="1" dirty="0"/>
              <a:t>2. La Soluzione: Creazione di una Bridge Network Personalizzata</a:t>
            </a:r>
          </a:p>
          <a:p>
            <a:r>
              <a:rPr lang="it-IT" dirty="0"/>
              <a:t>Creiamo la nostra rete privata in cui i container coinvolti possono riconoscersi per nome e non più per </a:t>
            </a:r>
            <a:r>
              <a:rPr lang="it-IT" dirty="0" err="1"/>
              <a:t>ip</a:t>
            </a:r>
            <a:r>
              <a:rPr lang="it-IT" dirty="0"/>
              <a:t>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network create rete-aziendale</a:t>
            </a:r>
          </a:p>
          <a:p>
            <a:r>
              <a:rPr lang="it-IT" dirty="0"/>
              <a:t>Verifichiamo la lista delle reti per vedere il driver: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network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ls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8A46FBC0-79C0-DF40-0DA6-F9C8E5C0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0644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C75A0-45BD-A429-CA67-64D735D0F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2C200DBF-4A08-836C-39D8-B88A5FB54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b="1" dirty="0"/>
              <a:t>3. Agganciamo i container alla nuova rete</a:t>
            </a:r>
          </a:p>
          <a:p>
            <a:r>
              <a:rPr lang="it-IT" dirty="0"/>
              <a:t>Avviamo il database reale inserendolo nella rete aziendale: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-aziendale --network rete-aziendale -e MARIADB_ROOT_PASSWORD=secret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mariadb:latest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Ora se agganciamo nella stessa rete un container </a:t>
            </a:r>
            <a:r>
              <a:rPr lang="it-IT" dirty="0" err="1"/>
              <a:t>backend</a:t>
            </a:r>
            <a:r>
              <a:rPr lang="it-IT" dirty="0"/>
              <a:t>, potrà comunicare col database usando direttamente il nome </a:t>
            </a:r>
            <a:r>
              <a:rPr lang="it-IT" dirty="0" err="1"/>
              <a:t>db</a:t>
            </a:r>
            <a:r>
              <a:rPr lang="it-IT" dirty="0"/>
              <a:t>-aziendale.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9678B618-0AF3-A077-7309-F653C7BCF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4462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CCB24-18BE-77FC-63EB-9D4B5144C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6CF975E0-E2AF-6A49-0EAA-4C1D829D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LAB 4: Scrittura di </a:t>
            </a:r>
            <a:r>
              <a:rPr lang="it-IT" dirty="0" err="1"/>
              <a:t>Dockerfile</a:t>
            </a:r>
            <a:r>
              <a:rPr lang="it-IT" dirty="0"/>
              <a:t> – Single Stage vs Multi-Stage Build (Java Enterprise)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4A52532-6530-08B6-7E03-86DD7982F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8742"/>
            <a:ext cx="9557362" cy="4803369"/>
          </a:xfrm>
        </p:spPr>
        <p:txBody>
          <a:bodyPr/>
          <a:lstStyle/>
          <a:p>
            <a:r>
              <a:rPr lang="it-IT" b="1" dirty="0"/>
              <a:t>Obiettivo</a:t>
            </a:r>
            <a:r>
              <a:rPr lang="it-IT" dirty="0"/>
              <a:t>: Scrivere la "ricetta" di build di un'immagine personalizzata. Comprendere l'impatto dei </a:t>
            </a:r>
            <a:r>
              <a:rPr lang="it-IT" dirty="0" err="1"/>
              <a:t>layer</a:t>
            </a:r>
            <a:r>
              <a:rPr lang="it-IT" dirty="0"/>
              <a:t> sulla sicurezza e sulle dimensioni delle immagini aziendali passando da un build ingenuo a uno Multi-Stage professionale.</a:t>
            </a:r>
          </a:p>
          <a:p>
            <a:r>
              <a:rPr lang="it-IT" b="1" dirty="0"/>
              <a:t>Traccia:</a:t>
            </a:r>
            <a:r>
              <a:rPr lang="it-IT" dirty="0"/>
              <a:t> Il team di sviluppo vi ha fornito il codice sorgente di un'applicazione Java Spring Boot. Il manager Cloud vi impone un limite: l'immagine finale da caricare su AWS non deve superare i 250MB per motivi di costi di trasferimento e non deve contenere il codice sorgente in chiaro per motivi di sicurezza industriale. Dovete compilare l'app direttamente dentro Docker usando il Multi-Stage build.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2DAC835F-B2E1-BE3E-D40F-D379A50B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158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9E80-5FB2-2FB3-878E-37B6F38D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A167E556-A370-DAF7-5DB9-BCA64CDE7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Creiamo una cartella chiamata progetto-java. All'interno creiamo una struttura di codice sorgente minima (per evitare di configurare un intero progetto Spring Boot reale).</a:t>
            </a:r>
          </a:p>
          <a:p>
            <a:r>
              <a:rPr lang="it-IT" dirty="0"/>
              <a:t>Dentro la cartella creiamo il file Avvio.java: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public class Avvio {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    public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static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void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main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(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String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[]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args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       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System.out.println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("Applicazione Enterprise Java avviata correttamente dentro Docker!");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}</a:t>
            </a:r>
          </a:p>
          <a:p>
            <a:endParaRPr lang="it-IT" dirty="0"/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E51C3BA9-E14C-862D-0CE2-CF09E8E6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62815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2933-7F60-0D47-CA9F-1E6376E7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26A7DC16-385D-497D-6F7C-49E00B3E6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014" y="1027315"/>
            <a:ext cx="9557362" cy="4803369"/>
          </a:xfrm>
        </p:spPr>
        <p:txBody>
          <a:bodyPr/>
          <a:lstStyle/>
          <a:p>
            <a:r>
              <a:rPr lang="it-IT" b="1" dirty="0"/>
              <a:t>PARTE 1: Il Build Ingenuo (Single-Stage) – La versione pesante</a:t>
            </a:r>
          </a:p>
          <a:p>
            <a:r>
              <a:rPr lang="it-IT" dirty="0"/>
              <a:t>Creiamo un file chiamato </a:t>
            </a:r>
            <a:r>
              <a:rPr lang="it-IT" b="1" dirty="0" err="1"/>
              <a:t>Dockerfile.pesante</a:t>
            </a:r>
            <a:r>
              <a:rPr lang="it-IT" b="1" dirty="0"/>
              <a:t> </a:t>
            </a:r>
            <a:r>
              <a:rPr lang="it-IT" dirty="0"/>
              <a:t>nella stessa cartella: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FROM maven:3.8.4-openjdk-17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WORKDIR /app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COPY Avvio.java /app/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# Compiliamo il codice dentro l'immagine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RUN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javac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Avvio.java </a:t>
            </a:r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# Crea un </a:t>
            </a:r>
            <a:r>
              <a:rPr lang="it-IT" dirty="0" err="1">
                <a:solidFill>
                  <a:srgbClr val="00B050"/>
                </a:solidFill>
                <a:latin typeface="Consolas" panose="020B0609020204030204" pitchFamily="49" charset="0"/>
              </a:rPr>
              <a:t>layer</a:t>
            </a:r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 con il .class</a:t>
            </a:r>
          </a:p>
          <a:p>
            <a:endParaRPr lang="it-IT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CMD ["java", "Avvio"]</a:t>
            </a:r>
          </a:p>
          <a:p>
            <a:r>
              <a:rPr lang="it-IT" dirty="0" err="1"/>
              <a:t>NB:usando</a:t>
            </a:r>
            <a:r>
              <a:rPr lang="it-IT" dirty="0"/>
              <a:t> </a:t>
            </a:r>
            <a:r>
              <a:rPr lang="it-IT" dirty="0" err="1"/>
              <a:t>javac</a:t>
            </a:r>
            <a:r>
              <a:rPr lang="it-IT" dirty="0"/>
              <a:t> possiamo fare a meno di Maven, ma è per simulare il caso di un progetto Spring Boot.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500CA36A-116D-9B8F-1629-C34F86DBE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886579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995B-EB82-9ED3-182D-424CD7F0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86D7931-1A37-E2B7-368C-7E8D2E05D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120592"/>
            <a:ext cx="9557362" cy="4803369"/>
          </a:xfrm>
        </p:spPr>
        <p:txBody>
          <a:bodyPr/>
          <a:lstStyle/>
          <a:p>
            <a:r>
              <a:rPr lang="it-IT" dirty="0"/>
              <a:t>Lanciamo il build di questa prima versione: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build -t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app-java:pesante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-f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Dockerfile.pesante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.</a:t>
            </a:r>
          </a:p>
          <a:p>
            <a:r>
              <a:rPr lang="it-IT" dirty="0"/>
              <a:t>Dettaglio delle opzioni: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build </a:t>
            </a:r>
          </a:p>
          <a:p>
            <a:pPr lvl="1"/>
            <a:r>
              <a:rPr lang="it-IT" sz="1800" dirty="0">
                <a:latin typeface="Neue Haas Grotesk Text Pro" panose="020B0504020202020204" pitchFamily="34" charset="0"/>
              </a:rPr>
              <a:t>avvia la costruzione di un'immagine Docker. 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-t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app-java:pesante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sz="2400" dirty="0">
                <a:latin typeface="+mn-lt"/>
              </a:rPr>
              <a:t>(-t sta per tag)</a:t>
            </a:r>
          </a:p>
          <a:p>
            <a:pPr lvl="1"/>
            <a:r>
              <a:rPr lang="it-IT" sz="1800" dirty="0">
                <a:latin typeface="Neue Haas Grotesk Text Pro" panose="020B0504020202020204" pitchFamily="34" charset="0"/>
              </a:rPr>
              <a:t>assegna un nome (repository) e un tag (versione) all'immagine. </a:t>
            </a:r>
          </a:p>
          <a:p>
            <a:pPr lvl="1"/>
            <a:r>
              <a:rPr lang="it-IT" sz="1800" dirty="0">
                <a:latin typeface="Neue Haas Grotesk Text Pro" panose="020B0504020202020204" pitchFamily="34" charset="0"/>
              </a:rPr>
              <a:t>Nome: app-java </a:t>
            </a:r>
          </a:p>
          <a:p>
            <a:pPr lvl="1"/>
            <a:r>
              <a:rPr lang="it-IT" sz="1800" dirty="0">
                <a:latin typeface="Neue Haas Grotesk Text Pro" panose="020B0504020202020204" pitchFamily="34" charset="0"/>
              </a:rPr>
              <a:t>Tag: pesante </a:t>
            </a:r>
          </a:p>
          <a:p>
            <a:pPr lvl="1"/>
            <a:r>
              <a:rPr lang="it-IT" sz="1800" dirty="0">
                <a:latin typeface="Neue Haas Grotesk Text Pro" panose="020B0504020202020204" pitchFamily="34" charset="0"/>
              </a:rPr>
              <a:t>Equivale a: </a:t>
            </a:r>
            <a:r>
              <a:rPr lang="it-IT" sz="1800" dirty="0" err="1">
                <a:solidFill>
                  <a:srgbClr val="171FE2"/>
                </a:solidFill>
                <a:latin typeface="Consolas" panose="020B0609020204030204" pitchFamily="49" charset="0"/>
              </a:rPr>
              <a:t>app-java:pesante</a:t>
            </a:r>
            <a:endParaRPr lang="it-IT" sz="18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-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f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Dockerfile.pesante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/>
              <a:t>(-f sta per file)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pPr lvl="1"/>
            <a:r>
              <a:rPr lang="it-IT" sz="1800" dirty="0">
                <a:latin typeface="Neue Haas Grotesk Text Pro" panose="020B0504020202020204" pitchFamily="34" charset="0"/>
              </a:rPr>
              <a:t>dice a Docker di usare il file </a:t>
            </a:r>
            <a:r>
              <a:rPr lang="it-IT" sz="1800" dirty="0" err="1">
                <a:latin typeface="Neue Haas Grotesk Text Pro" panose="020B0504020202020204" pitchFamily="34" charset="0"/>
              </a:rPr>
              <a:t>Dockerfile.pesante</a:t>
            </a:r>
            <a:r>
              <a:rPr lang="it-IT" sz="1800" dirty="0">
                <a:latin typeface="Neue Haas Grotesk Text Pro" panose="020B0504020202020204" pitchFamily="34" charset="0"/>
              </a:rPr>
              <a:t> invece del file predefinito </a:t>
            </a:r>
            <a:r>
              <a:rPr lang="it-IT" sz="1800" dirty="0" err="1">
                <a:latin typeface="Neue Haas Grotesk Text Pro" panose="020B0504020202020204" pitchFamily="34" charset="0"/>
              </a:rPr>
              <a:t>Dockerfile</a:t>
            </a:r>
            <a:r>
              <a:rPr lang="it-IT" sz="1800" dirty="0">
                <a:latin typeface="Neue Haas Grotesk Text Pro" panose="020B0504020202020204" pitchFamily="34" charset="0"/>
              </a:rPr>
              <a:t>. </a:t>
            </a:r>
          </a:p>
          <a:p>
            <a:pPr lvl="1"/>
            <a:r>
              <a:rPr lang="it-IT" sz="1800" b="1" dirty="0">
                <a:solidFill>
                  <a:srgbClr val="171FE2"/>
                </a:solidFill>
                <a:latin typeface="Neue Haas Grotesk Text Pro" panose="020B0504020202020204" pitchFamily="34" charset="0"/>
              </a:rPr>
              <a:t>.</a:t>
            </a:r>
            <a:r>
              <a:rPr lang="it-IT" sz="1800" dirty="0">
                <a:latin typeface="Neue Haas Grotesk Text Pro" panose="020B0504020202020204" pitchFamily="34" charset="0"/>
              </a:rPr>
              <a:t>  indica il build </a:t>
            </a:r>
            <a:r>
              <a:rPr lang="it-IT" sz="1800" dirty="0" err="1">
                <a:latin typeface="Neue Haas Grotesk Text Pro" panose="020B0504020202020204" pitchFamily="34" charset="0"/>
              </a:rPr>
              <a:t>context</a:t>
            </a:r>
            <a:r>
              <a:rPr lang="it-IT" sz="1800" dirty="0">
                <a:latin typeface="Neue Haas Grotesk Text Pro" panose="020B0504020202020204" pitchFamily="34" charset="0"/>
              </a:rPr>
              <a:t>, cioè la cartella corrente. Tutti i file che il </a:t>
            </a:r>
            <a:r>
              <a:rPr lang="it-IT" sz="1800" dirty="0" err="1">
                <a:latin typeface="Neue Haas Grotesk Text Pro" panose="020B0504020202020204" pitchFamily="34" charset="0"/>
              </a:rPr>
              <a:t>Dockerfile</a:t>
            </a:r>
            <a:r>
              <a:rPr lang="it-IT" sz="1800" dirty="0">
                <a:latin typeface="Neue Haas Grotesk Text Pro" panose="020B0504020202020204" pitchFamily="34" charset="0"/>
              </a:rPr>
              <a:t> può copiare con COPY o ADD vengono presi da qui.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A2BD07A0-82B0-B916-903A-98CFF645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21301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D1AA-0C75-24BC-E6CC-73DDF2F1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52D998CD-095E-3B57-BD4C-A9FC9AB2F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738" y="1349192"/>
            <a:ext cx="2940662" cy="4803369"/>
          </a:xfrm>
        </p:spPr>
        <p:txBody>
          <a:bodyPr/>
          <a:lstStyle/>
          <a:p>
            <a:r>
              <a:rPr lang="it-IT" b="1" dirty="0"/>
              <a:t>PARTE 2: Il Build Professionale (Multi-Stage) – La versione piuma</a:t>
            </a:r>
          </a:p>
          <a:p>
            <a:r>
              <a:rPr lang="it-IT" dirty="0"/>
              <a:t>L'immagine appena creata contiene il compilatore </a:t>
            </a:r>
            <a:r>
              <a:rPr lang="it-IT" dirty="0" err="1"/>
              <a:t>javac</a:t>
            </a:r>
            <a:r>
              <a:rPr lang="it-IT" dirty="0"/>
              <a:t>, l'intera suite Maven e il codice .java sorgente. </a:t>
            </a:r>
            <a:r>
              <a:rPr lang="it-IT" dirty="0">
                <a:solidFill>
                  <a:srgbClr val="171FE2"/>
                </a:solidFill>
              </a:rPr>
              <a:t>Roba inutile in produzione che appesantisce il server.</a:t>
            </a:r>
          </a:p>
          <a:p>
            <a:r>
              <a:rPr lang="it-IT" dirty="0"/>
              <a:t>Riscriviamo l'architettura creando un nuovo file chiamato </a:t>
            </a:r>
            <a:r>
              <a:rPr lang="it-IT" b="1" dirty="0" err="1"/>
              <a:t>Dockerfile.leggero</a:t>
            </a:r>
            <a:r>
              <a:rPr lang="it-IT" b="1" dirty="0"/>
              <a:t>.</a:t>
            </a:r>
            <a:endParaRPr lang="it-IT" dirty="0"/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D2CC81-A0E0-F737-A9A9-AFD5222E71A7}"/>
              </a:ext>
            </a:extLst>
          </p:cNvPr>
          <p:cNvSpPr txBox="1"/>
          <p:nvPr/>
        </p:nvSpPr>
        <p:spPr>
          <a:xfrm>
            <a:off x="3515813" y="1349192"/>
            <a:ext cx="828944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# STAGE 1: Compilazione (La fabbrica)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FROM maven:3.8.4-openjdk-17 AS build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WORKDIR /build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COPY Avvio.java .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RUN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javac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Avvio.java </a:t>
            </a:r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# ottengo il </a:t>
            </a:r>
            <a:r>
              <a:rPr lang="it-IT" dirty="0" err="1">
                <a:solidFill>
                  <a:srgbClr val="00B050"/>
                </a:solidFill>
                <a:latin typeface="Consolas" panose="020B0609020204030204" pitchFamily="49" charset="0"/>
              </a:rPr>
              <a:t>layer</a:t>
            </a:r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 build/</a:t>
            </a:r>
            <a:r>
              <a:rPr lang="it-IT" dirty="0" err="1">
                <a:solidFill>
                  <a:srgbClr val="00B050"/>
                </a:solidFill>
                <a:latin typeface="Consolas" panose="020B0609020204030204" pitchFamily="49" charset="0"/>
              </a:rPr>
              <a:t>Avvio.class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# Nello stage 2, ci portiamo dietro solo il </a:t>
            </a:r>
            <a:r>
              <a:rPr lang="it-IT" dirty="0" err="1">
                <a:solidFill>
                  <a:srgbClr val="00B050"/>
                </a:solidFill>
                <a:latin typeface="Consolas" panose="020B0609020204030204" pitchFamily="49" charset="0"/>
              </a:rPr>
              <a:t>layer</a:t>
            </a:r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 ottenuto</a:t>
            </a:r>
          </a:p>
          <a:p>
            <a:endParaRPr lang="it-IT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# STAGE 2: Esecuzione (Il negozio leggero)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FROM </a:t>
            </a:r>
            <a:r>
              <a:rPr lang="it-IT" dirty="0"/>
              <a:t>eclipse-temurin:17-jre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WORKDIR /app</a:t>
            </a:r>
          </a:p>
          <a:p>
            <a:r>
              <a:rPr lang="it-IT" dirty="0">
                <a:solidFill>
                  <a:srgbClr val="00B050"/>
                </a:solidFill>
                <a:latin typeface="Consolas" panose="020B0609020204030204" pitchFamily="49" charset="0"/>
              </a:rPr>
              <a:t># Prendiamo SOLO il file compilato .class dallo stage precedente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COPY --from=build /build/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Avvio.class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/app/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CMD ["java", "Avvio"]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36428EAD-B6DE-FABE-7407-26619CFB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330303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3410-C636-131C-8B27-49E74CF77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ED88E4CC-0A67-6092-721A-BE4231307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043084"/>
            <a:ext cx="9557362" cy="4803369"/>
          </a:xfrm>
        </p:spPr>
        <p:txBody>
          <a:bodyPr/>
          <a:lstStyle/>
          <a:p>
            <a:r>
              <a:rPr lang="it-IT" b="1" dirty="0"/>
              <a:t>PARTE 3: L'Ispezione dei pesi</a:t>
            </a:r>
          </a:p>
          <a:p>
            <a:r>
              <a:rPr lang="it-IT" dirty="0"/>
              <a:t>Eseguiamo il comando di controllo: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images |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select-string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"app-java"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Facciamo girare il container leggero per verificare che funzioni:</a:t>
            </a:r>
          </a:p>
          <a:p>
            <a:r>
              <a:rPr lang="sv-SE" dirty="0">
                <a:solidFill>
                  <a:srgbClr val="171FE2"/>
                </a:solidFill>
                <a:latin typeface="Consolas" panose="020B0609020204030204" pitchFamily="49" charset="0"/>
              </a:rPr>
              <a:t>docker run --rm app-java:leggera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A schermo apparirà la scritta: "Applicazione Enterprise Java avviata correttamente dentro Docker!" e il container si auto-eliminerà (--</a:t>
            </a:r>
            <a:r>
              <a:rPr lang="it-IT" dirty="0" err="1"/>
              <a:t>rm</a:t>
            </a:r>
            <a:r>
              <a:rPr lang="it-IT" dirty="0"/>
              <a:t>) subito dopo aver terminato il lavoro, lasciando il PC pulito.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4A58602-9362-EBF5-19B8-D9FB9B527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919" y="2681076"/>
            <a:ext cx="3544217" cy="1495848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0424D3B-A3A6-C2AC-FC5F-CB3366CB62E5}"/>
              </a:ext>
            </a:extLst>
          </p:cNvPr>
          <p:cNvSpPr txBox="1"/>
          <p:nvPr/>
        </p:nvSpPr>
        <p:spPr>
          <a:xfrm>
            <a:off x="5186521" y="2163339"/>
            <a:ext cx="684815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Docker non duplica i </a:t>
            </a:r>
            <a:r>
              <a:rPr lang="it-IT" dirty="0" err="1"/>
              <a:t>layer</a:t>
            </a:r>
            <a:r>
              <a:rPr lang="it-IT" dirty="0"/>
              <a:t> uguali.</a:t>
            </a:r>
          </a:p>
          <a:p>
            <a:r>
              <a:rPr lang="it-IT" dirty="0"/>
              <a:t>Quindi:</a:t>
            </a:r>
          </a:p>
          <a:p>
            <a:r>
              <a:rPr lang="it-IT" b="1" dirty="0"/>
              <a:t>425 MB</a:t>
            </a:r>
            <a:r>
              <a:rPr lang="it-IT" dirty="0"/>
              <a:t> = dimensione logica dell'immagine leggera. </a:t>
            </a:r>
          </a:p>
          <a:p>
            <a:r>
              <a:rPr lang="it-IT" b="1" dirty="0"/>
              <a:t>109 MB</a:t>
            </a:r>
            <a:r>
              <a:rPr lang="it-IT" dirty="0"/>
              <a:t> = spazio aggiuntivo occupato sul disco perché molti </a:t>
            </a:r>
          </a:p>
          <a:p>
            <a:r>
              <a:rPr lang="it-IT" dirty="0" err="1"/>
              <a:t>layer</a:t>
            </a:r>
            <a:r>
              <a:rPr lang="it-IT" dirty="0"/>
              <a:t> sono condivisi con altre immagini. </a:t>
            </a:r>
          </a:p>
          <a:p>
            <a:r>
              <a:rPr lang="it-IT" dirty="0"/>
              <a:t>Analogamente:</a:t>
            </a:r>
          </a:p>
          <a:p>
            <a:r>
              <a:rPr lang="it-IT" b="1" dirty="0"/>
              <a:t>1.25 GB</a:t>
            </a:r>
            <a:r>
              <a:rPr lang="it-IT" dirty="0"/>
              <a:t> = dimensione logica dell'immagine pesante. </a:t>
            </a:r>
          </a:p>
          <a:p>
            <a:r>
              <a:rPr lang="it-IT" b="1" dirty="0"/>
              <a:t>428 MB</a:t>
            </a:r>
            <a:r>
              <a:rPr lang="it-IT" dirty="0"/>
              <a:t> = spazio unico che quella immagine aggiunge rispetto ai </a:t>
            </a:r>
            <a:r>
              <a:rPr lang="it-IT" dirty="0" err="1"/>
              <a:t>layer</a:t>
            </a:r>
            <a:r>
              <a:rPr lang="it-IT" dirty="0"/>
              <a:t> </a:t>
            </a:r>
          </a:p>
          <a:p>
            <a:r>
              <a:rPr lang="it-IT" dirty="0"/>
              <a:t>già presenti.</a:t>
            </a:r>
          </a:p>
          <a:p>
            <a:endParaRPr lang="it-IT" dirty="0"/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EDFBFD33-E841-948F-1D48-4928839A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46357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B70F-6646-69DD-B0EC-CF090F78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EF51540-EAF1-1E74-5AA3-17F204C1C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38" y="1349192"/>
            <a:ext cx="9557362" cy="4803369"/>
          </a:xfrm>
        </p:spPr>
        <p:txBody>
          <a:bodyPr/>
          <a:lstStyle/>
          <a:p>
            <a:r>
              <a:rPr lang="it-IT" dirty="0"/>
              <a:t>Per vedere i dettagli dell’immagine leggera: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image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inspect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app-java:leggera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oppure: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system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df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–v</a:t>
            </a:r>
          </a:p>
          <a:p>
            <a:r>
              <a:rPr lang="it-IT" dirty="0"/>
              <a:t>Quest'ultimo è molto interessante perché mostra: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dimensione totale dell'immagine;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spazio condiviso;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spazio unico;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cache di build. </a:t>
            </a:r>
          </a:p>
          <a:p>
            <a:r>
              <a:rPr lang="it-IT" dirty="0"/>
              <a:t>È il comando migliore per capire perché due immagini apparentemente enormi occupano molto meno spazio reale sul disco.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184B62D7-6E8C-D3BC-BF45-DAD1EA5D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768136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D1C76-4DDD-4D60-9D6E-617894A6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1A9A86DC-CDD5-7FC2-1886-1C571E57B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027315"/>
            <a:ext cx="9557362" cy="4803369"/>
          </a:xfrm>
        </p:spPr>
        <p:txBody>
          <a:bodyPr/>
          <a:lstStyle/>
          <a:p>
            <a:r>
              <a:rPr lang="it-IT" dirty="0">
                <a:solidFill>
                  <a:srgbClr val="171FE2"/>
                </a:solidFill>
              </a:rPr>
              <a:t>La </a:t>
            </a:r>
            <a:r>
              <a:rPr lang="it-IT" b="1" dirty="0">
                <a:solidFill>
                  <a:srgbClr val="171FE2"/>
                </a:solidFill>
              </a:rPr>
              <a:t>build cache</a:t>
            </a:r>
            <a:r>
              <a:rPr lang="it-IT" dirty="0">
                <a:solidFill>
                  <a:srgbClr val="171FE2"/>
                </a:solidFill>
              </a:rPr>
              <a:t> di Docker è un insieme di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 che Docker conserva per evitare di rifare lavoro già fatto durante le build successive.</a:t>
            </a:r>
          </a:p>
          <a:p>
            <a:r>
              <a:rPr lang="it-IT" dirty="0"/>
              <a:t>Prendiamo questo </a:t>
            </a:r>
            <a:r>
              <a:rPr lang="it-IT" dirty="0" err="1"/>
              <a:t>Dockerfile</a:t>
            </a:r>
            <a:r>
              <a:rPr lang="it-IT" dirty="0"/>
              <a:t>: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FROM eclipse-temurin:17-jdk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WORKDIR /app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COPY Avvio.java .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RUN </a:t>
            </a:r>
            <a:r>
              <a:rPr lang="it-IT" sz="1400" dirty="0" err="1">
                <a:solidFill>
                  <a:srgbClr val="171FE2"/>
                </a:solidFill>
                <a:latin typeface="Consolas" panose="020B0609020204030204" pitchFamily="49" charset="0"/>
              </a:rPr>
              <a:t>javac</a:t>
            </a:r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 Avvio.java</a:t>
            </a:r>
          </a:p>
          <a:p>
            <a:r>
              <a:rPr lang="it-IT" sz="1400" dirty="0">
                <a:solidFill>
                  <a:srgbClr val="171FE2"/>
                </a:solidFill>
                <a:latin typeface="Consolas" panose="020B0609020204030204" pitchFamily="49" charset="0"/>
              </a:rPr>
              <a:t>CMD ["java", "Avvio"]</a:t>
            </a:r>
          </a:p>
          <a:p>
            <a:r>
              <a:rPr lang="it-IT" dirty="0"/>
              <a:t>Quando eseguiamo: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build -t app-java .</a:t>
            </a:r>
          </a:p>
          <a:p>
            <a:r>
              <a:rPr lang="it-IT" dirty="0"/>
              <a:t>e li salva nella cache.</a:t>
            </a:r>
          </a:p>
          <a:p>
            <a:r>
              <a:rPr lang="it-IT" dirty="0"/>
              <a:t>Se eseguiamo una seconda build con lo stesso comando senza modificare nulla, Docker vede che: il </a:t>
            </a:r>
            <a:r>
              <a:rPr lang="it-IT" dirty="0" err="1"/>
              <a:t>Dockerfile</a:t>
            </a:r>
            <a:r>
              <a:rPr lang="it-IT" dirty="0"/>
              <a:t> è uguale; Avvio.java è uguale; e riutilizza i </a:t>
            </a:r>
            <a:r>
              <a:rPr lang="it-IT" dirty="0" err="1"/>
              <a:t>layer</a:t>
            </a:r>
            <a:r>
              <a:rPr lang="it-IT" dirty="0"/>
              <a:t> già costruiti.</a:t>
            </a:r>
          </a:p>
          <a:p>
            <a:r>
              <a:rPr lang="it-IT" dirty="0"/>
              <a:t>Vedremo messaggi tipo:</a:t>
            </a:r>
          </a:p>
          <a:p>
            <a:r>
              <a:rPr lang="it-IT" sz="1200" dirty="0">
                <a:solidFill>
                  <a:srgbClr val="171FE2"/>
                </a:solidFill>
                <a:latin typeface="Consolas" panose="020B0609020204030204" pitchFamily="49" charset="0"/>
              </a:rPr>
              <a:t>CACHED [2/4] WORKDIR /app</a:t>
            </a:r>
          </a:p>
          <a:p>
            <a:r>
              <a:rPr lang="it-IT" sz="1200" dirty="0">
                <a:solidFill>
                  <a:srgbClr val="171FE2"/>
                </a:solidFill>
                <a:latin typeface="Consolas" panose="020B0609020204030204" pitchFamily="49" charset="0"/>
              </a:rPr>
              <a:t>CACHED [3/4] COPY Avvio.java .</a:t>
            </a:r>
          </a:p>
          <a:p>
            <a:r>
              <a:rPr lang="it-IT" sz="1200" dirty="0">
                <a:solidFill>
                  <a:srgbClr val="171FE2"/>
                </a:solidFill>
                <a:latin typeface="Consolas" panose="020B0609020204030204" pitchFamily="49" charset="0"/>
              </a:rPr>
              <a:t>CACHED [4/4] RUN </a:t>
            </a:r>
            <a:r>
              <a:rPr lang="it-IT" sz="1200" dirty="0" err="1">
                <a:solidFill>
                  <a:srgbClr val="171FE2"/>
                </a:solidFill>
                <a:latin typeface="Consolas" panose="020B0609020204030204" pitchFamily="49" charset="0"/>
              </a:rPr>
              <a:t>javac</a:t>
            </a:r>
            <a:r>
              <a:rPr lang="it-IT" sz="1200" dirty="0">
                <a:solidFill>
                  <a:srgbClr val="171FE2"/>
                </a:solidFill>
                <a:latin typeface="Consolas" panose="020B0609020204030204" pitchFamily="49" charset="0"/>
              </a:rPr>
              <a:t> Avvio.java</a:t>
            </a:r>
          </a:p>
          <a:p>
            <a:r>
              <a:rPr lang="it-IT" sz="1200" dirty="0"/>
              <a:t>La build durerà pochi istanti.</a:t>
            </a:r>
            <a:endParaRPr lang="it-IT" sz="1200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C549C590-7859-EA09-0A83-911E05CE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61343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A2975-E353-DD33-F4A3-86B0A783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0BC3C842-22FC-2A4D-512E-9C9E2E083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11" y="913015"/>
            <a:ext cx="5347312" cy="4803369"/>
          </a:xfrm>
        </p:spPr>
        <p:txBody>
          <a:bodyPr/>
          <a:lstStyle/>
          <a:p>
            <a:r>
              <a:rPr lang="it-IT" sz="1600" dirty="0"/>
              <a:t>Se modifichiamo il sorgente, Docker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riutilizza i </a:t>
            </a:r>
            <a:r>
              <a:rPr lang="it-IT" sz="1600" dirty="0" err="1"/>
              <a:t>layer</a:t>
            </a:r>
            <a:r>
              <a:rPr lang="it-IT" sz="1600" dirty="0"/>
              <a:t> precedenti fino a WORKDIR;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deve rifare COPY Avvio.java;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deve rifare RUN </a:t>
            </a:r>
            <a:r>
              <a:rPr lang="it-IT" sz="1600" dirty="0" err="1"/>
              <a:t>javac</a:t>
            </a:r>
            <a:r>
              <a:rPr lang="it-IT" sz="1600" dirty="0"/>
              <a:t> Avvio.java. </a:t>
            </a:r>
          </a:p>
          <a:p>
            <a:r>
              <a:rPr lang="it-IT" sz="1600" dirty="0"/>
              <a:t>Questi nuovi </a:t>
            </a:r>
            <a:r>
              <a:rPr lang="it-IT" sz="1600" dirty="0" err="1"/>
              <a:t>layer</a:t>
            </a:r>
            <a:r>
              <a:rPr lang="it-IT" sz="1600" dirty="0"/>
              <a:t> vengono aggiunti alla cache.</a:t>
            </a:r>
          </a:p>
          <a:p>
            <a:endParaRPr lang="it-IT" sz="1600" dirty="0"/>
          </a:p>
          <a:p>
            <a:r>
              <a:rPr lang="it-IT" sz="1600" dirty="0"/>
              <a:t>Ogni build lascia </a:t>
            </a:r>
            <a:r>
              <a:rPr lang="it-IT" sz="1600" dirty="0" err="1"/>
              <a:t>layer</a:t>
            </a:r>
            <a:r>
              <a:rPr lang="it-IT" sz="1600" dirty="0"/>
              <a:t> utilizzabili in futuro.</a:t>
            </a:r>
          </a:p>
          <a:p>
            <a:r>
              <a:rPr lang="it-IT" sz="1600" dirty="0"/>
              <a:t>Dopo molte build puoi avere:</a:t>
            </a:r>
          </a:p>
          <a:p>
            <a:r>
              <a:rPr lang="it-IT" sz="1600" dirty="0"/>
              <a:t>Cache di build: 2.3 GB</a:t>
            </a:r>
          </a:p>
          <a:p>
            <a:r>
              <a:rPr lang="it-IT" sz="1600" dirty="0"/>
              <a:t>Immagini:       1.1 GB</a:t>
            </a:r>
          </a:p>
          <a:p>
            <a:r>
              <a:rPr lang="it-IT" sz="1600" dirty="0"/>
              <a:t>Container:      0.0 GB</a:t>
            </a:r>
          </a:p>
          <a:p>
            <a:r>
              <a:rPr lang="it-IT" sz="1600" dirty="0"/>
              <a:t>anche se alcune immagini sono state cancellate.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0580CDE-11AE-4FE6-D76E-E41343E88474}"/>
              </a:ext>
            </a:extLst>
          </p:cNvPr>
          <p:cNvSpPr txBox="1"/>
          <p:nvPr/>
        </p:nvSpPr>
        <p:spPr>
          <a:xfrm>
            <a:off x="5057486" y="754394"/>
            <a:ext cx="6642844" cy="62786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Come vedere la cache</a:t>
            </a:r>
          </a:p>
          <a:p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system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df</a:t>
            </a:r>
            <a:endParaRPr lang="it-IT" sz="16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Output tipico:</a:t>
            </a:r>
          </a:p>
          <a:p>
            <a:br>
              <a:rPr lang="it-IT" dirty="0"/>
            </a:br>
            <a:br>
              <a:rPr lang="it-IT" dirty="0"/>
            </a:br>
            <a:br>
              <a:rPr lang="it-IT" dirty="0"/>
            </a:br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oppure più dettagliato:</a:t>
            </a:r>
          </a:p>
          <a:p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system 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df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-v</a:t>
            </a:r>
            <a:endParaRPr lang="it-IT" dirty="0"/>
          </a:p>
          <a:p>
            <a:endParaRPr lang="it-IT" dirty="0"/>
          </a:p>
          <a:p>
            <a:r>
              <a:rPr lang="it-IT" b="1" dirty="0"/>
              <a:t>Come svuotarla</a:t>
            </a:r>
          </a:p>
          <a:p>
            <a:r>
              <a:rPr lang="it-IT" dirty="0"/>
              <a:t>Solo la cache di build:</a:t>
            </a:r>
          </a:p>
          <a:p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builder prune</a:t>
            </a:r>
          </a:p>
          <a:p>
            <a:r>
              <a:rPr lang="it-IT" dirty="0"/>
              <a:t>Tutta la cache senza chiedere conferma:</a:t>
            </a:r>
          </a:p>
          <a:p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builder prune -f</a:t>
            </a:r>
          </a:p>
          <a:p>
            <a:r>
              <a:rPr lang="it-IT" dirty="0"/>
              <a:t>Tutte le cache inutilizzate (immagini NON taggate, container fermati, </a:t>
            </a:r>
          </a:p>
          <a:p>
            <a:r>
              <a:rPr lang="it-IT" dirty="0"/>
              <a:t>reti, cache build):</a:t>
            </a:r>
          </a:p>
          <a:p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system prune</a:t>
            </a:r>
          </a:p>
          <a:p>
            <a:r>
              <a:rPr lang="it-IT" dirty="0"/>
              <a:t>Tutte le cache inutilizzate compresi i volumi e le immagini taggate:</a:t>
            </a:r>
          </a:p>
          <a:p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sz="1600" dirty="0">
                <a:solidFill>
                  <a:srgbClr val="171FE2"/>
                </a:solidFill>
                <a:latin typeface="Consolas" panose="020B0609020204030204" pitchFamily="49" charset="0"/>
              </a:rPr>
              <a:t> system prune –a --</a:t>
            </a:r>
            <a:r>
              <a:rPr lang="it-IT" sz="1600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endParaRPr lang="it-IT" sz="1600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3BDE9489-C0C8-069B-03A3-BB8C3F895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819154"/>
              </p:ext>
            </p:extLst>
          </p:nvPr>
        </p:nvGraphicFramePr>
        <p:xfrm>
          <a:off x="5057486" y="1610929"/>
          <a:ext cx="522037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5093">
                  <a:extLst>
                    <a:ext uri="{9D8B030D-6E8A-4147-A177-3AD203B41FA5}">
                      <a16:colId xmlns:a16="http://schemas.microsoft.com/office/drawing/2014/main" val="1893753600"/>
                    </a:ext>
                  </a:extLst>
                </a:gridCol>
                <a:gridCol w="1305093">
                  <a:extLst>
                    <a:ext uri="{9D8B030D-6E8A-4147-A177-3AD203B41FA5}">
                      <a16:colId xmlns:a16="http://schemas.microsoft.com/office/drawing/2014/main" val="404553342"/>
                    </a:ext>
                  </a:extLst>
                </a:gridCol>
                <a:gridCol w="1305093">
                  <a:extLst>
                    <a:ext uri="{9D8B030D-6E8A-4147-A177-3AD203B41FA5}">
                      <a16:colId xmlns:a16="http://schemas.microsoft.com/office/drawing/2014/main" val="99885200"/>
                    </a:ext>
                  </a:extLst>
                </a:gridCol>
                <a:gridCol w="1305093">
                  <a:extLst>
                    <a:ext uri="{9D8B030D-6E8A-4147-A177-3AD203B41FA5}">
                      <a16:colId xmlns:a16="http://schemas.microsoft.com/office/drawing/2014/main" val="3955230152"/>
                    </a:ext>
                  </a:extLst>
                </a:gridCol>
              </a:tblGrid>
              <a:tr h="322503">
                <a:tc>
                  <a:txBody>
                    <a:bodyPr/>
                    <a:lstStyle/>
                    <a:p>
                      <a:r>
                        <a:rPr lang="it-IT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61921"/>
                  </a:ext>
                </a:extLst>
              </a:tr>
              <a:tr h="322503">
                <a:tc>
                  <a:txBody>
                    <a:bodyPr/>
                    <a:lstStyle/>
                    <a:p>
                      <a:r>
                        <a:rPr lang="it-IT"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149830"/>
                  </a:ext>
                </a:extLst>
              </a:tr>
              <a:tr h="322503">
                <a:tc>
                  <a:txBody>
                    <a:bodyPr/>
                    <a:lstStyle/>
                    <a:p>
                      <a:r>
                        <a:rPr lang="it-IT" dirty="0"/>
                        <a:t>Containers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3317"/>
                  </a:ext>
                </a:extLst>
              </a:tr>
              <a:tr h="322503">
                <a:tc>
                  <a:txBody>
                    <a:bodyPr/>
                    <a:lstStyle/>
                    <a:p>
                      <a:r>
                        <a:rPr lang="it-IT" dirty="0"/>
                        <a:t>Build Cache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950MB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470412"/>
                  </a:ext>
                </a:extLst>
              </a:tr>
            </a:tbl>
          </a:graphicData>
        </a:graphic>
      </p:graphicFrame>
      <p:sp>
        <p:nvSpPr>
          <p:cNvPr id="5" name="Segnaposto numero diapositiva 11">
            <a:extLst>
              <a:ext uri="{FF2B5EF4-FFF2-40B4-BE49-F238E27FC236}">
                <a16:creationId xmlns:a16="http://schemas.microsoft.com/office/drawing/2014/main" id="{C51124D5-C2B3-3973-EABC-7F07A263E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348891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B584-8B4F-5FCB-668E-9915CF15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6265E5D-82A3-8C3C-113B-DA288ABB9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027315"/>
            <a:ext cx="9557362" cy="4803369"/>
          </a:xfrm>
        </p:spPr>
        <p:txBody>
          <a:bodyPr/>
          <a:lstStyle/>
          <a:p>
            <a:r>
              <a:rPr lang="it-IT" b="1" dirty="0"/>
              <a:t>Docker non permette di eliminare risorse attualmente in uso</a:t>
            </a:r>
            <a:r>
              <a:rPr lang="it-IT" dirty="0"/>
              <a:t> (container in esecuzione, immagini usate da container attivi, volumi montati, ecc.) senza prima fermarle/rimuoverle.</a:t>
            </a:r>
          </a:p>
          <a:p>
            <a:r>
              <a:rPr lang="it-IT" dirty="0"/>
              <a:t>Per eliminare anche i container attivi bisogna prima fermarli:</a:t>
            </a:r>
          </a:p>
          <a:p>
            <a:r>
              <a:rPr lang="sv-SE" dirty="0">
                <a:solidFill>
                  <a:srgbClr val="171FE2"/>
                </a:solidFill>
                <a:latin typeface="Consolas" panose="020B0609020204030204" pitchFamily="49" charset="0"/>
              </a:rPr>
              <a:t>docker ps -aq | ForEach-Object { docker stop $_ }</a:t>
            </a:r>
          </a:p>
          <a:p>
            <a:r>
              <a:rPr lang="sv-SE" dirty="0"/>
              <a:t>e poi rimuoverli: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ps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-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aq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|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ForEach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-Object { docker rm $_ }</a:t>
            </a:r>
          </a:p>
          <a:p>
            <a:r>
              <a:rPr lang="it-IT" dirty="0"/>
              <a:t>Dopodiché puoi pulire tutto (senza chiedere conferma: flag f):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system prune -a --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–f</a:t>
            </a:r>
          </a:p>
          <a:p>
            <a:r>
              <a:rPr lang="it-IT" dirty="0"/>
              <a:t>Per capire cosa è rimasto adesso esegui: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ps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–a 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images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volume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ls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network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ls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Ci accorgeremo che ciò che è sopravvissuto sono immagini, volumi e network di sistema.</a:t>
            </a:r>
          </a:p>
        </p:txBody>
      </p:sp>
      <p:sp>
        <p:nvSpPr>
          <p:cNvPr id="2" name="Segnaposto numero diapositiva 11">
            <a:extLst>
              <a:ext uri="{FF2B5EF4-FFF2-40B4-BE49-F238E27FC236}">
                <a16:creationId xmlns:a16="http://schemas.microsoft.com/office/drawing/2014/main" id="{2369414B-3D89-5DAA-890E-0B668DFA4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776039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DB40A-5A56-9833-49AE-78C6297FE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E9B034FF-C57E-ACD8-A663-D791CA4A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LAB 5: Lo Stop "Gentile" vs "Brutale" e il comando Prune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D87A6DB2-4FC3-C80E-D9DA-3F51985AD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8742"/>
            <a:ext cx="9557362" cy="4803369"/>
          </a:xfrm>
        </p:spPr>
        <p:txBody>
          <a:bodyPr/>
          <a:lstStyle/>
          <a:p>
            <a:r>
              <a:rPr lang="it-IT" b="1" dirty="0"/>
              <a:t>Obiettivo</a:t>
            </a:r>
            <a:r>
              <a:rPr lang="it-IT" dirty="0"/>
              <a:t>: Capire la differenza tra SIGTERM e SIGKILL e ripulire il sistema senza lasciare container orfani sul PC.</a:t>
            </a:r>
          </a:p>
          <a:p>
            <a:r>
              <a:rPr lang="it-IT" b="1" dirty="0"/>
              <a:t>Traccia:</a:t>
            </a:r>
            <a:r>
              <a:rPr lang="it-IT" dirty="0"/>
              <a:t> Un server </a:t>
            </a:r>
            <a:r>
              <a:rPr lang="it-IT" dirty="0" err="1"/>
              <a:t>enterprise</a:t>
            </a:r>
            <a:r>
              <a:rPr lang="it-IT" dirty="0"/>
              <a:t> non può essere spento staccando la spina, altrimenti i database si corrompono. Dovete testare la differenza tra uno spegnimento controllato (che lascia al software il tempo di salvare i dati) e uno spegnimento immediato di emergenza. Infine, dovrete ripulire il PC da tutti i container nascosti e addormentati.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1BFAE118-85B6-5CBA-4F20-072A80BB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91290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D319-4D3D-D5CD-097D-519151B5A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E99828EB-4876-4906-76FC-F7F8FC1D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027315"/>
            <a:ext cx="9557362" cy="4803369"/>
          </a:xfrm>
        </p:spPr>
        <p:txBody>
          <a:bodyPr/>
          <a:lstStyle/>
          <a:p>
            <a:r>
              <a:rPr lang="it-IT" b="1" dirty="0"/>
              <a:t>1. Il concetto di </a:t>
            </a:r>
            <a:r>
              <a:rPr lang="it-IT" b="1" dirty="0" err="1"/>
              <a:t>Graceful</a:t>
            </a:r>
            <a:r>
              <a:rPr lang="it-IT" b="1" dirty="0"/>
              <a:t> Shutdown (Stop vs </a:t>
            </a:r>
            <a:r>
              <a:rPr lang="it-IT" b="1" dirty="0" err="1"/>
              <a:t>Kill</a:t>
            </a:r>
            <a:r>
              <a:rPr lang="it-IT" b="1" dirty="0"/>
              <a:t>)</a:t>
            </a:r>
          </a:p>
          <a:p>
            <a:r>
              <a:rPr lang="it-IT" dirty="0"/>
              <a:t>Avviamo un container e monitoriamo i secondi che impiega a morire: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server-paziente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Ora lanciamo il comando di stop standard e cronometriamo visivamente il tempo: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stop server-paziente</a:t>
            </a:r>
          </a:p>
          <a:p>
            <a:r>
              <a:rPr lang="it-IT" b="1" dirty="0" err="1"/>
              <a:t>docker</a:t>
            </a:r>
            <a:r>
              <a:rPr lang="it-IT" b="1" dirty="0"/>
              <a:t> stop </a:t>
            </a:r>
            <a:r>
              <a:rPr lang="it-IT" dirty="0"/>
              <a:t>invia un segnale Linux chiamato </a:t>
            </a:r>
            <a:r>
              <a:rPr lang="it-IT" b="1" dirty="0"/>
              <a:t>SIGTERM</a:t>
            </a:r>
            <a:r>
              <a:rPr lang="it-IT" dirty="0"/>
              <a:t>. </a:t>
            </a:r>
          </a:p>
          <a:p>
            <a:r>
              <a:rPr lang="it-IT" dirty="0"/>
              <a:t>Comunica al container: </a:t>
            </a:r>
            <a:r>
              <a:rPr lang="it-IT" i="1" dirty="0"/>
              <a:t>"Guarda che sto per chiudere, salva i file aperti"</a:t>
            </a:r>
            <a:r>
              <a:rPr lang="it-IT" dirty="0"/>
              <a:t>. </a:t>
            </a:r>
          </a:p>
          <a:p>
            <a:r>
              <a:rPr lang="it-IT" dirty="0">
                <a:solidFill>
                  <a:srgbClr val="171FE2"/>
                </a:solidFill>
              </a:rPr>
              <a:t>Docker aspetta di default fino a 10 secondi. Se l'app non si spegne, la killa inviando il segnale </a:t>
            </a:r>
            <a:r>
              <a:rPr lang="it-IT" b="1" dirty="0">
                <a:solidFill>
                  <a:srgbClr val="171FE2"/>
                </a:solidFill>
              </a:rPr>
              <a:t>SIGKILL</a:t>
            </a:r>
            <a:r>
              <a:rPr lang="it-IT" dirty="0">
                <a:solidFill>
                  <a:srgbClr val="171FE2"/>
                </a:solidFill>
              </a:rPr>
              <a:t>.</a:t>
            </a:r>
          </a:p>
          <a:p>
            <a:r>
              <a:rPr lang="it-IT" dirty="0"/>
              <a:t>In alternativa, qualora il container non dovesse rispondere risultando bloccato, possiamo fare lo stop forzato: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kill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server-paziente</a:t>
            </a:r>
          </a:p>
          <a:p>
            <a:r>
              <a:rPr lang="it-IT" dirty="0"/>
              <a:t>Il processo viene terminato all'istante. Nessuna possibilità di eseguire operazioni di </a:t>
            </a:r>
            <a:r>
              <a:rPr lang="it-IT" dirty="0" err="1"/>
              <a:t>cleanup</a:t>
            </a:r>
            <a:r>
              <a:rPr lang="it-IT" dirty="0"/>
              <a:t> (non darà il tempo ad un </a:t>
            </a:r>
            <a:r>
              <a:rPr lang="it-IT" dirty="0" err="1"/>
              <a:t>db</a:t>
            </a:r>
            <a:r>
              <a:rPr lang="it-IT" dirty="0"/>
              <a:t> di salvare dati o ad una connessione di chiudersi).</a:t>
            </a:r>
          </a:p>
          <a:p>
            <a:r>
              <a:rPr lang="it-IT" dirty="0">
                <a:solidFill>
                  <a:srgbClr val="171FE2"/>
                </a:solidFill>
              </a:rPr>
              <a:t>Sia </a:t>
            </a:r>
            <a:r>
              <a:rPr lang="it-IT" dirty="0" err="1">
                <a:solidFill>
                  <a:srgbClr val="171FE2"/>
                </a:solidFill>
              </a:rPr>
              <a:t>docker</a:t>
            </a:r>
            <a:r>
              <a:rPr lang="it-IT" dirty="0">
                <a:solidFill>
                  <a:srgbClr val="171FE2"/>
                </a:solidFill>
              </a:rPr>
              <a:t> stop che </a:t>
            </a:r>
            <a:r>
              <a:rPr lang="it-IT" dirty="0" err="1">
                <a:solidFill>
                  <a:srgbClr val="171FE2"/>
                </a:solidFill>
              </a:rPr>
              <a:t>docker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 err="1">
                <a:solidFill>
                  <a:srgbClr val="171FE2"/>
                </a:solidFill>
              </a:rPr>
              <a:t>kill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b="1" dirty="0">
                <a:solidFill>
                  <a:srgbClr val="171FE2"/>
                </a:solidFill>
              </a:rPr>
              <a:t>terminano il container</a:t>
            </a:r>
            <a:r>
              <a:rPr lang="it-IT" dirty="0">
                <a:solidFill>
                  <a:srgbClr val="171FE2"/>
                </a:solidFill>
              </a:rPr>
              <a:t>, ma </a:t>
            </a:r>
            <a:r>
              <a:rPr lang="it-IT" b="1" dirty="0">
                <a:solidFill>
                  <a:srgbClr val="171FE2"/>
                </a:solidFill>
              </a:rPr>
              <a:t>non lo eliminano</a:t>
            </a:r>
            <a:r>
              <a:rPr lang="it-IT" dirty="0">
                <a:solidFill>
                  <a:srgbClr val="171FE2"/>
                </a:solidFill>
              </a:rPr>
              <a:t>.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0DAB6522-AA7B-FBB1-C760-A5A3FB76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491434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DDC1-27DF-685A-6720-66D1BD91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B3C232D-59CE-4A8B-D343-3C29BF0C6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2. Il dramma dei container addormentati (</a:t>
            </a:r>
            <a:r>
              <a:rPr lang="it-IT" b="1" dirty="0" err="1"/>
              <a:t>docker</a:t>
            </a:r>
            <a:r>
              <a:rPr lang="it-IT" b="1" dirty="0"/>
              <a:t> </a:t>
            </a:r>
            <a:r>
              <a:rPr lang="it-IT" b="1" dirty="0" err="1"/>
              <a:t>ps</a:t>
            </a:r>
            <a:r>
              <a:rPr lang="it-IT" b="1" dirty="0"/>
              <a:t> -a)</a:t>
            </a:r>
          </a:p>
          <a:p>
            <a:r>
              <a:rPr lang="it-IT" dirty="0"/>
              <a:t>Lanciando il comando di controllo: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ps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La lista risulterà vuota. Penseremmo che il PC sia pulito, tuttavia, eseguendo: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ps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–a</a:t>
            </a:r>
          </a:p>
          <a:p>
            <a:r>
              <a:rPr lang="it-IT" dirty="0"/>
              <a:t>Vedremo container in stato </a:t>
            </a:r>
            <a:r>
              <a:rPr lang="it-IT" dirty="0" err="1"/>
              <a:t>Exited</a:t>
            </a:r>
            <a:r>
              <a:rPr lang="it-IT" dirty="0"/>
              <a:t> (Spenti). </a:t>
            </a:r>
          </a:p>
          <a:p>
            <a:r>
              <a:rPr lang="it-IT" dirty="0">
                <a:solidFill>
                  <a:srgbClr val="171FE2"/>
                </a:solidFill>
              </a:rPr>
              <a:t>Un container spento </a:t>
            </a:r>
            <a:r>
              <a:rPr lang="it-IT" b="1" dirty="0">
                <a:solidFill>
                  <a:srgbClr val="171FE2"/>
                </a:solidFill>
              </a:rPr>
              <a:t>occupa ancora spazio sul disco rigido</a:t>
            </a:r>
            <a:r>
              <a:rPr lang="it-IT" dirty="0">
                <a:solidFill>
                  <a:srgbClr val="171FE2"/>
                </a:solidFill>
              </a:rPr>
              <a:t> perché Docker conserva il suo strato di scrittura (</a:t>
            </a:r>
            <a:r>
              <a:rPr lang="it-IT" dirty="0" err="1">
                <a:solidFill>
                  <a:srgbClr val="171FE2"/>
                </a:solidFill>
              </a:rPr>
              <a:t>writable</a:t>
            </a:r>
            <a:r>
              <a:rPr lang="it-IT" dirty="0">
                <a:solidFill>
                  <a:srgbClr val="171FE2"/>
                </a:solidFill>
              </a:rPr>
              <a:t> </a:t>
            </a:r>
            <a:r>
              <a:rPr lang="it-IT" dirty="0" err="1">
                <a:solidFill>
                  <a:srgbClr val="171FE2"/>
                </a:solidFill>
              </a:rPr>
              <a:t>layer</a:t>
            </a:r>
            <a:r>
              <a:rPr lang="it-IT" dirty="0">
                <a:solidFill>
                  <a:srgbClr val="171FE2"/>
                </a:solidFill>
              </a:rPr>
              <a:t>) nel caso decidessimo di riavviarlo con </a:t>
            </a:r>
            <a:r>
              <a:rPr lang="it-IT" b="1" dirty="0" err="1">
                <a:solidFill>
                  <a:srgbClr val="171FE2"/>
                </a:solidFill>
              </a:rPr>
              <a:t>docker</a:t>
            </a:r>
            <a:r>
              <a:rPr lang="it-IT" b="1" dirty="0">
                <a:solidFill>
                  <a:srgbClr val="171FE2"/>
                </a:solidFill>
              </a:rPr>
              <a:t> start</a:t>
            </a:r>
            <a:r>
              <a:rPr lang="it-IT" dirty="0">
                <a:solidFill>
                  <a:srgbClr val="171FE2"/>
                </a:solidFill>
              </a:rPr>
              <a:t>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b="1" dirty="0"/>
              <a:t>3. La grande pulizia: Il comando Prune</a:t>
            </a:r>
          </a:p>
          <a:p>
            <a:r>
              <a:rPr lang="it-IT" dirty="0"/>
              <a:t>Per eliminare in un colpo solo tutti i container spenti ed evitare che i PC vadano in blocco memoria, usiamo il comando di sfoltimento: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container prune </a:t>
            </a:r>
            <a:r>
              <a:rPr lang="it-IT" dirty="0"/>
              <a:t>oppure senza chiedere conferme: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container prune –f</a:t>
            </a:r>
          </a:p>
          <a:p>
            <a:r>
              <a:rPr lang="it-IT" dirty="0"/>
              <a:t>Per rimuovere uno o più container nello specifico: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nome-container </a:t>
            </a:r>
            <a:r>
              <a:rPr lang="it-IT" dirty="0"/>
              <a:t>oppure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nome-container-1 nome-container-2 </a:t>
            </a:r>
          </a:p>
          <a:p>
            <a:r>
              <a:rPr lang="it-IT" dirty="0"/>
              <a:t>La pulizia nucleare che invece spazza tutto il sistema (</a:t>
            </a:r>
            <a:r>
              <a:rPr lang="it-IT" dirty="0" err="1"/>
              <a:t>immagini,container,cache,volumi,reti</a:t>
            </a:r>
            <a:r>
              <a:rPr lang="it-IT" dirty="0"/>
              <a:t>):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system prune -a --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volumes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562F718B-8B5B-F8AD-148C-22AC520D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61938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E3F96-7973-32FD-1242-B81F65722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77FA7D05-5E5B-1CD0-2EC2-549F02AC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LAB 6: Riepilogo 1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CD735D12-2B50-C020-2F52-C99E77F41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8742"/>
            <a:ext cx="9557362" cy="4803369"/>
          </a:xfrm>
        </p:spPr>
        <p:txBody>
          <a:bodyPr/>
          <a:lstStyle/>
          <a:p>
            <a:r>
              <a:rPr lang="it-IT" b="1" dirty="0"/>
              <a:t>Traccia:</a:t>
            </a:r>
            <a:r>
              <a:rPr lang="it-IT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Avviare due server web indipendenti (Alfa e Beta) usando la stessa immagine di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Entrare dentro web-alfa e modificare la sua pagina iniziale. Poi confrontare l’output restituiti dai due container </a:t>
            </a:r>
            <a:r>
              <a:rPr lang="it-IT" dirty="0" err="1"/>
              <a:t>Nginx</a:t>
            </a:r>
            <a:r>
              <a:rPr lang="it-IT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Testare la persistenza delle modifiche di Alfa dopo averlo rimosso e fatto ripartire. </a:t>
            </a:r>
          </a:p>
          <a:p>
            <a:endParaRPr lang="it-IT" dirty="0"/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0B0A1C45-6632-F4FA-77DE-A5A72374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199835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A9C5-C0B1-9467-8848-056B3265C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6EDD4A83-DD48-25C4-82D1-46E91AD19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RIEPILOGO 1: Istanze multiple dalla stessa immagine e "Mortalità" dei dati</a:t>
            </a:r>
          </a:p>
          <a:p>
            <a:r>
              <a:rPr lang="it-IT" i="1" dirty="0"/>
              <a:t>Obiettivo: Dimostrare che si possono creare più container indipendenti da una sola immagine e che i dati interni sono effimeri.</a:t>
            </a:r>
            <a:endParaRPr lang="it-IT" dirty="0"/>
          </a:p>
          <a:p>
            <a:r>
              <a:rPr lang="it-IT" b="1" dirty="0"/>
              <a:t>1. Avviamo due server web indipendenti (Alfa e Beta) usando la stessa immagine di </a:t>
            </a:r>
            <a:r>
              <a:rPr lang="it-IT" b="1" dirty="0" err="1"/>
              <a:t>Nginx</a:t>
            </a:r>
            <a:r>
              <a:rPr lang="it-IT" b="1" dirty="0"/>
              <a:t>:</a:t>
            </a:r>
            <a:endParaRPr lang="it-IT" dirty="0"/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web-alfa -p 8081:80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web-beta -p 8082:80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b="1" dirty="0"/>
              <a:t>2. Entriamo dentro web-alfa e modifichiamo la sua pagina iniziale: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exec -it web-alfa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sh</a:t>
            </a:r>
            <a:endParaRPr lang="en-US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i="1" dirty="0"/>
              <a:t>(Il prompt diventa / #)</a:t>
            </a:r>
            <a:r>
              <a:rPr lang="it-IT" dirty="0"/>
              <a:t>. Scriviamo il file e usciamo: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echo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"&lt;h1&gt;Benvenuti su ALFA - Modificato da Mirko!&lt;/h1&gt;" &gt; 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/html/index.html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exit</a:t>
            </a:r>
          </a:p>
          <a:p>
            <a:r>
              <a:rPr lang="it-IT" dirty="0"/>
              <a:t>Su http://localhost:8081 -&gt; Appare la scritta personalizzata </a:t>
            </a:r>
            <a:r>
              <a:rPr lang="it-IT" i="1" dirty="0"/>
              <a:t>"Benvenuti su ALFA..."</a:t>
            </a:r>
            <a:r>
              <a:rPr lang="it-IT" dirty="0"/>
              <a:t>.</a:t>
            </a:r>
          </a:p>
          <a:p>
            <a:r>
              <a:rPr lang="it-IT" dirty="0"/>
              <a:t>Su http://localhost:8082 -&gt; Appare il </a:t>
            </a:r>
            <a:r>
              <a:rPr lang="it-IT" i="1" dirty="0"/>
              <a:t>"Welcome to </a:t>
            </a:r>
            <a:r>
              <a:rPr lang="it-IT" i="1" dirty="0" err="1"/>
              <a:t>nginx</a:t>
            </a:r>
            <a:r>
              <a:rPr lang="it-IT" i="1" dirty="0"/>
              <a:t>"</a:t>
            </a:r>
            <a:r>
              <a:rPr lang="it-IT" dirty="0"/>
              <a:t> standard di fabbrica.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06965C2E-7559-1085-A7DB-A07AE029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226804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999AE-0A8F-1747-8919-49A3323CE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2D67174C-2E8D-BB23-038B-18F838FDC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3. Il test del crash (I dati muoiono):</a:t>
            </a:r>
            <a:r>
              <a:rPr lang="it-IT" dirty="0"/>
              <a:t> Cancelliamo e rifacciamo il container Alfa: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-f web-alfa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web-alfa -p 8081:80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Aggiorna http://localhost:8081 -&gt; La scritta personalizzata è </a:t>
            </a:r>
            <a:r>
              <a:rPr lang="it-IT" b="1" dirty="0"/>
              <a:t>sparita</a:t>
            </a:r>
            <a:r>
              <a:rPr lang="it-IT" dirty="0"/>
              <a:t>. Tutto è tornato di fabbrica.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975801CA-31F3-6DA5-1438-255D0713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7543508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85DB-99CD-D4F6-3E3D-7CFA499B3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della lezione">
            <a:extLst>
              <a:ext uri="{FF2B5EF4-FFF2-40B4-BE49-F238E27FC236}">
                <a16:creationId xmlns:a16="http://schemas.microsoft.com/office/drawing/2014/main" id="{51FE3E10-FAEA-DC16-1D10-83CDD920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206"/>
            <a:ext cx="10515600" cy="314198"/>
          </a:xfrm>
        </p:spPr>
        <p:txBody>
          <a:bodyPr/>
          <a:lstStyle/>
          <a:p>
            <a:r>
              <a:rPr lang="it-IT" dirty="0"/>
              <a:t>LAB 7: Riepilogo 2</a:t>
            </a:r>
          </a:p>
        </p:txBody>
      </p:sp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781B5E98-A04B-016C-1043-0C6C041DB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7319" y="1558742"/>
            <a:ext cx="9557362" cy="4803369"/>
          </a:xfrm>
        </p:spPr>
        <p:txBody>
          <a:bodyPr/>
          <a:lstStyle/>
          <a:p>
            <a:r>
              <a:rPr lang="it-IT" b="1" dirty="0"/>
              <a:t>Traccia A:</a:t>
            </a:r>
            <a:r>
              <a:rPr lang="it-IT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Creare un volume sicuro e avviare un container </a:t>
            </a:r>
            <a:r>
              <a:rPr lang="it-IT" dirty="0" err="1"/>
              <a:t>nginx</a:t>
            </a:r>
            <a:r>
              <a:rPr lang="it-IT" dirty="0"/>
              <a:t> che lo usa.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Modificare il file all’interno.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Testare la persistenza delle modifiche dopo averlo rimosso e fatto ripartire. 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r>
              <a:rPr lang="it-IT" b="1" dirty="0"/>
              <a:t>Traccia B: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Creare un cartella sul Desktop con all’interno un file index.html.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Avviare un container proiettando questa cartella interna (spostati prima sul Desktop). Verificare se quanto scritto nell’index si riflette da browser.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r>
              <a:rPr lang="it-IT" b="1" dirty="0"/>
              <a:t>Traccia C:</a:t>
            </a:r>
          </a:p>
          <a:p>
            <a:r>
              <a:rPr lang="it-IT" dirty="0"/>
              <a:t>Creare due container per avviare i processi di </a:t>
            </a:r>
            <a:r>
              <a:rPr lang="it-IT" dirty="0" err="1"/>
              <a:t>MariaDb</a:t>
            </a:r>
            <a:r>
              <a:rPr lang="it-IT" dirty="0"/>
              <a:t> e del client </a:t>
            </a:r>
            <a:r>
              <a:rPr lang="it-IT" dirty="0" err="1"/>
              <a:t>phpMyAdmin</a:t>
            </a:r>
            <a:r>
              <a:rPr lang="it-IT" dirty="0"/>
              <a:t>. </a:t>
            </a:r>
          </a:p>
          <a:p>
            <a:r>
              <a:rPr lang="it-IT" dirty="0"/>
              <a:t>Verificare la comunicazione su bridge (Scenario A) e su rete personalizzata (Scenario B).</a:t>
            </a:r>
          </a:p>
          <a:p>
            <a:r>
              <a:rPr lang="it-IT" dirty="0"/>
              <a:t>Creare poi un volume da assegnare al </a:t>
            </a:r>
            <a:r>
              <a:rPr lang="it-IT" dirty="0" err="1"/>
              <a:t>db</a:t>
            </a:r>
            <a:r>
              <a:rPr lang="it-IT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2ECC8A21-9E95-ED3F-61BE-2516297C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3114027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A237-4E4D-F7C9-EA72-98FBC4FA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8C12B50-1CD0-9F93-BD07-D7172C5A4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RIEPILOGO 2: </a:t>
            </a:r>
            <a:r>
              <a:rPr lang="it-IT" dirty="0"/>
              <a:t>Salviamo i dati (</a:t>
            </a:r>
            <a:r>
              <a:rPr lang="it-IT" dirty="0" err="1"/>
              <a:t>Named</a:t>
            </a:r>
            <a:r>
              <a:rPr lang="it-IT" dirty="0"/>
              <a:t> </a:t>
            </a:r>
            <a:r>
              <a:rPr lang="it-IT" dirty="0" err="1"/>
              <a:t>Volumes</a:t>
            </a:r>
            <a:r>
              <a:rPr lang="it-IT" dirty="0"/>
              <a:t> vs </a:t>
            </a:r>
            <a:r>
              <a:rPr lang="it-IT" dirty="0" err="1"/>
              <a:t>Bind</a:t>
            </a:r>
            <a:r>
              <a:rPr lang="it-IT" dirty="0"/>
              <a:t> </a:t>
            </a:r>
            <a:r>
              <a:rPr lang="it-IT" dirty="0" err="1"/>
              <a:t>Mounts</a:t>
            </a:r>
            <a:r>
              <a:rPr lang="it-IT" dirty="0"/>
              <a:t>)</a:t>
            </a:r>
            <a:endParaRPr lang="it-IT" b="1" dirty="0"/>
          </a:p>
          <a:p>
            <a:r>
              <a:rPr lang="it-IT" b="1" dirty="0"/>
              <a:t>Parte A: Il </a:t>
            </a:r>
            <a:r>
              <a:rPr lang="it-IT" b="1" dirty="0" err="1"/>
              <a:t>Named</a:t>
            </a:r>
            <a:r>
              <a:rPr lang="it-IT" b="1" dirty="0"/>
              <a:t> Volume (Gestito da Docker)</a:t>
            </a:r>
          </a:p>
          <a:p>
            <a:pPr marL="342900" indent="-342900">
              <a:buAutoNum type="arabicPeriod"/>
            </a:pPr>
            <a:r>
              <a:rPr lang="it-IT" b="1" dirty="0"/>
              <a:t>Creiamo un volume sicuro e avviamo un container che lo usa: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volume create mio-volume-persistente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web-salvato -p 8083:80 -v mio-volume-persistente:/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b="1" dirty="0"/>
              <a:t>2. Modifichiamo il file all'interno: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exec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it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web-salvato sh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echo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"&lt;h1&gt;Qui i dati sono immortali!&lt;/h1&gt;" &gt; 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/html/index.html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exit</a:t>
            </a:r>
          </a:p>
          <a:p>
            <a:r>
              <a:rPr lang="it-IT" b="1" dirty="0"/>
              <a:t>3. Distruggiamo il container e verifichiamo la persistenza:</a:t>
            </a: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rm -f web-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salvato</a:t>
            </a:r>
            <a:endParaRPr lang="en-US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docker run -d --name web-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salvato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 -p 8083:80 -v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mio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-volume-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persistente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:/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en-US" dirty="0">
                <a:solidFill>
                  <a:srgbClr val="171FE2"/>
                </a:solidFill>
                <a:latin typeface="Consolas" panose="020B0609020204030204" pitchFamily="49" charset="0"/>
              </a:rPr>
              <a:t>/share/nginx/html </a:t>
            </a:r>
            <a:r>
              <a:rPr lang="en-US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61CFEA18-CE68-12BA-C7A7-E975F938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771022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8EB9C-9EF8-AF69-1024-E06FE6C74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62D1FE79-7230-7201-38F2-8D5E379C0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Parte B: Il </a:t>
            </a:r>
            <a:r>
              <a:rPr lang="it-IT" b="1" dirty="0" err="1"/>
              <a:t>Bind</a:t>
            </a:r>
            <a:r>
              <a:rPr lang="it-IT" b="1" dirty="0"/>
              <a:t> Mount (La cartella di Windows)</a:t>
            </a:r>
          </a:p>
          <a:p>
            <a:pPr marL="342900" indent="-342900">
              <a:buAutoNum type="arabicPeriod"/>
            </a:pPr>
            <a:r>
              <a:rPr lang="it-IT" b="1" dirty="0"/>
              <a:t>Crea al volo una cartella sul tuo Desktop chiamata sito-windows.</a:t>
            </a:r>
            <a:r>
              <a:rPr lang="it-IT" dirty="0"/>
              <a:t> </a:t>
            </a:r>
          </a:p>
          <a:p>
            <a:r>
              <a:rPr lang="it-IT" dirty="0"/>
              <a:t>Al suo interno crea un file chiamato index.html usando il Blocco Note o VS Code, e scriviamo: &lt;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h1&gt;Sito da Windows! 💻&lt;/h1&gt;</a:t>
            </a:r>
          </a:p>
          <a:p>
            <a:r>
              <a:rPr lang="it-IT" b="1" dirty="0"/>
              <a:t>2. Avviamo un container proiettando questa cartella interna (spostiamoci prima sul Desktop):</a:t>
            </a:r>
          </a:p>
          <a:p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cd C:\Users\Utente\Desktop\sito-windows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web-developer -p 8084:80 -v ${PWD}:/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usr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/share/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/html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nginx:latest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Su http://localhost:8084 verifichiamo la lettura del testo scritto in index.html.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0D529534-F1AE-319E-6C0C-5BFEE7A91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4671251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3943-7AD9-6E2A-2A56-063261588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4005E0C1-8A3B-D3FF-F06A-BC5737C37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Parte C: </a:t>
            </a:r>
            <a:r>
              <a:rPr lang="it-IT" dirty="0"/>
              <a:t>Comunicazione tra container (Il test visivo con </a:t>
            </a:r>
            <a:r>
              <a:rPr lang="it-IT" dirty="0" err="1"/>
              <a:t>phpMyAdmin</a:t>
            </a:r>
            <a:r>
              <a:rPr lang="it-IT" dirty="0"/>
              <a:t> e </a:t>
            </a:r>
            <a:r>
              <a:rPr lang="it-IT" dirty="0" err="1"/>
              <a:t>MariaDB</a:t>
            </a:r>
            <a:r>
              <a:rPr lang="it-IT" dirty="0"/>
              <a:t>)</a:t>
            </a:r>
          </a:p>
          <a:p>
            <a:r>
              <a:rPr lang="it-IT" b="1" dirty="0"/>
              <a:t>SCENARIO A: Nella rete di default (bridge) – Obbligati a usare l'IP</a:t>
            </a:r>
          </a:p>
          <a:p>
            <a:r>
              <a:rPr lang="it-IT" dirty="0"/>
              <a:t>1. Avviamo il database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il-mio-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-e MARIADB_ROOT_PASSWORD=segreta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mariadb:latest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2. Recuperiamo l'IP che Docker ha assegnato al database (ci serve per dopo)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network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inspect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bridge</a:t>
            </a: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3. Avviamo </a:t>
            </a:r>
            <a:r>
              <a:rPr lang="it-IT" dirty="0" err="1"/>
              <a:t>phpMyAdmin</a:t>
            </a:r>
            <a:r>
              <a:rPr lang="it-IT" dirty="0"/>
              <a:t> esposto sulla porta 8080 di Windows (PMA_ARBITRARY ci farà associare l’</a:t>
            </a:r>
            <a:r>
              <a:rPr lang="it-IT" dirty="0" err="1"/>
              <a:t>ip</a:t>
            </a:r>
            <a:r>
              <a:rPr lang="it-IT" dirty="0"/>
              <a:t> del </a:t>
            </a:r>
            <a:r>
              <a:rPr lang="it-IT" dirty="0" err="1"/>
              <a:t>db</a:t>
            </a:r>
            <a:r>
              <a:rPr lang="it-IT" dirty="0"/>
              <a:t>).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la-mia-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gui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-p 8080:80 -e PMA_ARBITRARY=1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phpmyadmin:latest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dirty="0"/>
              <a:t>Nell’input server del login di </a:t>
            </a:r>
            <a:r>
              <a:rPr lang="it-IT" dirty="0" err="1"/>
              <a:t>phpMyAdmin</a:t>
            </a:r>
            <a:r>
              <a:rPr lang="it-IT" dirty="0"/>
              <a:t> scriviamo l’</a:t>
            </a:r>
            <a:r>
              <a:rPr lang="it-IT" dirty="0" err="1"/>
              <a:t>ip</a:t>
            </a:r>
            <a:r>
              <a:rPr lang="it-IT" dirty="0"/>
              <a:t> del </a:t>
            </a:r>
            <a:r>
              <a:rPr lang="it-IT" dirty="0" err="1"/>
              <a:t>db</a:t>
            </a:r>
            <a:r>
              <a:rPr lang="it-IT" dirty="0"/>
              <a:t>. Mettiamo le credenziale (user è root di default) e proviamo l’accesso (entreremo).</a:t>
            </a:r>
          </a:p>
          <a:p>
            <a:r>
              <a:rPr lang="it-IT" dirty="0">
                <a:solidFill>
                  <a:srgbClr val="171FE2"/>
                </a:solidFill>
              </a:rPr>
              <a:t>Scrivendo il-mio-</a:t>
            </a:r>
            <a:r>
              <a:rPr lang="it-IT" dirty="0" err="1">
                <a:solidFill>
                  <a:srgbClr val="171FE2"/>
                </a:solidFill>
              </a:rPr>
              <a:t>db</a:t>
            </a:r>
            <a:r>
              <a:rPr lang="it-IT" dirty="0">
                <a:solidFill>
                  <a:srgbClr val="171FE2"/>
                </a:solidFill>
              </a:rPr>
              <a:t> al posto dell’</a:t>
            </a:r>
            <a:r>
              <a:rPr lang="it-IT" dirty="0" err="1">
                <a:solidFill>
                  <a:srgbClr val="171FE2"/>
                </a:solidFill>
              </a:rPr>
              <a:t>ip</a:t>
            </a:r>
            <a:r>
              <a:rPr lang="it-IT" dirty="0">
                <a:solidFill>
                  <a:srgbClr val="171FE2"/>
                </a:solidFill>
              </a:rPr>
              <a:t> non verrà riconosciuto il </a:t>
            </a:r>
            <a:r>
              <a:rPr lang="it-IT" dirty="0" err="1">
                <a:solidFill>
                  <a:srgbClr val="171FE2"/>
                </a:solidFill>
              </a:rPr>
              <a:t>db</a:t>
            </a:r>
            <a:r>
              <a:rPr lang="it-IT" dirty="0">
                <a:solidFill>
                  <a:srgbClr val="171FE2"/>
                </a:solidFill>
              </a:rPr>
              <a:t> e ci darà errore di accesso.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16A352AC-89D9-ADB8-FF48-45A43E283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31121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745B3-A4F6-06D2-79C5-2FFB50277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C4973535-9858-23A8-225A-760D8432E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SCENARIO B: Nella rete personalizzata – La magia del NOME</a:t>
            </a:r>
          </a:p>
          <a:p>
            <a:r>
              <a:rPr lang="it-IT" dirty="0"/>
              <a:t>1. Rimuoviamo i vecchi container dello scenario A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-f il-mio-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la-mia-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gui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2. Creiamo la rete personalizzata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network create rete-aziendale</a:t>
            </a:r>
          </a:p>
          <a:p>
            <a:endParaRPr lang="it-IT" dirty="0"/>
          </a:p>
          <a:p>
            <a:r>
              <a:rPr lang="it-IT" dirty="0"/>
              <a:t>3. </a:t>
            </a:r>
            <a:r>
              <a:rPr lang="it-IT" dirty="0" err="1"/>
              <a:t>Ri</a:t>
            </a:r>
            <a:r>
              <a:rPr lang="it-IT" dirty="0"/>
              <a:t>-avviamo il database inserendolo nella nuova rete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il-mio-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--network rete-aziendale -e MARIADB_ROOT_PASSWORD=segreta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mariadb:latest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4. </a:t>
            </a:r>
            <a:r>
              <a:rPr lang="it-IT" dirty="0" err="1"/>
              <a:t>Ri</a:t>
            </a:r>
            <a:r>
              <a:rPr lang="it-IT" dirty="0"/>
              <a:t>-avviamo </a:t>
            </a:r>
            <a:r>
              <a:rPr lang="it-IT" dirty="0" err="1"/>
              <a:t>phpMyAdmin</a:t>
            </a:r>
            <a:r>
              <a:rPr lang="it-IT" dirty="0"/>
              <a:t> inserendolo nella stessa rete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la-mia-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gui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--network rete-aziendale -p 8080:80 -e PMA_ARBITRARY=1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phpmyadmin:latest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b="1" dirty="0"/>
              <a:t>Ora potremo scrivere in server il nome del container: il-mio-</a:t>
            </a:r>
            <a:r>
              <a:rPr lang="it-IT" b="1" dirty="0" err="1"/>
              <a:t>db</a:t>
            </a:r>
            <a:r>
              <a:rPr lang="it-IT" b="1" dirty="0"/>
              <a:t>, svincolandoci dal suo </a:t>
            </a:r>
            <a:r>
              <a:rPr lang="it-IT" b="1" dirty="0" err="1"/>
              <a:t>ip</a:t>
            </a:r>
            <a:r>
              <a:rPr lang="it-IT" b="1" dirty="0"/>
              <a:t>.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EB04A618-36CC-2729-334C-576F226CE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36171146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1436F-4C1F-D67F-8BEA-9BAE684AC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uto della lezione">
            <a:extLst>
              <a:ext uri="{FF2B5EF4-FFF2-40B4-BE49-F238E27FC236}">
                <a16:creationId xmlns:a16="http://schemas.microsoft.com/office/drawing/2014/main" id="{9BE59C5E-413C-EC8C-0BF4-93761979B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759" y="707275"/>
            <a:ext cx="10036481" cy="5839829"/>
          </a:xfrm>
        </p:spPr>
        <p:txBody>
          <a:bodyPr/>
          <a:lstStyle/>
          <a:p>
            <a:r>
              <a:rPr lang="it-IT" b="1" dirty="0"/>
              <a:t>SCENARIO B (Evoluto): La magia del NOME + la sicurezza del VOLUME</a:t>
            </a:r>
          </a:p>
          <a:p>
            <a:r>
              <a:rPr lang="it-IT" dirty="0"/>
              <a:t>1. Rimuoviamo i vecchi container 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rm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-f il-mio-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la-mia-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gui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2. Creiamo il volume persistente per la cassaforte dei dati 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volume create salvataggio-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3. Avviamo il database </a:t>
            </a:r>
            <a:r>
              <a:rPr lang="it-IT" dirty="0" err="1"/>
              <a:t>MariaDB</a:t>
            </a:r>
            <a:r>
              <a:rPr lang="it-IT" dirty="0"/>
              <a:t> unendo Rete e Volume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il-mio-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--network rete-aziendale -v salvataggio-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:/var/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lib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/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mysql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-e MARIADB_ROOT_PASSWORD=segreta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mariadb:latest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/>
          </a:p>
          <a:p>
            <a:r>
              <a:rPr lang="it-IT" dirty="0"/>
              <a:t>4. </a:t>
            </a:r>
            <a:r>
              <a:rPr lang="it-IT" dirty="0" err="1"/>
              <a:t>Ri</a:t>
            </a:r>
            <a:r>
              <a:rPr lang="it-IT" dirty="0"/>
              <a:t>-avviamo </a:t>
            </a:r>
            <a:r>
              <a:rPr lang="it-IT" dirty="0" err="1"/>
              <a:t>phpMyAdmin</a:t>
            </a:r>
            <a:r>
              <a:rPr lang="it-IT" dirty="0"/>
              <a:t> inserendolo nella stessa rete</a:t>
            </a:r>
          </a:p>
          <a:p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docker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run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-d --name la-mia-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gui</a:t>
            </a:r>
            <a:r>
              <a:rPr lang="it-IT" dirty="0">
                <a:solidFill>
                  <a:srgbClr val="171FE2"/>
                </a:solidFill>
                <a:latin typeface="Consolas" panose="020B0609020204030204" pitchFamily="49" charset="0"/>
              </a:rPr>
              <a:t> --network rete-aziendale -p 8080:80 -e PMA_ARBITRARY=1 </a:t>
            </a:r>
            <a:r>
              <a:rPr lang="it-IT" dirty="0" err="1">
                <a:solidFill>
                  <a:srgbClr val="171FE2"/>
                </a:solidFill>
                <a:latin typeface="Consolas" panose="020B0609020204030204" pitchFamily="49" charset="0"/>
              </a:rPr>
              <a:t>phpmyadmin:latest</a:t>
            </a:r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endParaRPr lang="it-IT" dirty="0">
              <a:solidFill>
                <a:srgbClr val="171FE2"/>
              </a:solidFill>
              <a:latin typeface="Consolas" panose="020B0609020204030204" pitchFamily="49" charset="0"/>
            </a:endParaRPr>
          </a:p>
          <a:p>
            <a:r>
              <a:rPr lang="it-IT" b="1" dirty="0"/>
              <a:t>Creiamo una tabella e verifichiamo se persiste dopo aver eliminato i due container.</a:t>
            </a:r>
          </a:p>
        </p:txBody>
      </p:sp>
      <p:sp>
        <p:nvSpPr>
          <p:cNvPr id="4" name="Segnaposto numero diapositiva 11">
            <a:extLst>
              <a:ext uri="{FF2B5EF4-FFF2-40B4-BE49-F238E27FC236}">
                <a16:creationId xmlns:a16="http://schemas.microsoft.com/office/drawing/2014/main" id="{27A66B59-9C5F-DAA5-7B3A-075B5B5A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it-IT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1270570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E02355-4941-9C10-CA1D-649F04DB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pc="0" dirty="0">
                <a:latin typeface="Neue Haas Grotesk Text Pro" panose="020B0504020202020204" pitchFamily="34" charset="0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3003246572"/>
      </p:ext>
    </p:extLst>
  </p:cSld>
  <p:clrMapOvr>
    <a:masterClrMapping/>
  </p:clrMapOvr>
</p:sld>
</file>

<file path=ppt/theme/theme1.xml><?xml version="1.0" encoding="utf-8"?>
<a:theme xmlns:a="http://schemas.openxmlformats.org/drawingml/2006/main" name="Intr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1b72fd8-e7d0-49ac-9795-d1b0bc6b7e1c" xsi:nil="true"/>
    <lcf76f155ced4ddcb4097134ff3c332f xmlns="8b3acf13-3a58-43b2-a29e-f23503de136d">
      <Terms xmlns="http://schemas.microsoft.com/office/infopath/2007/PartnerControls"/>
    </lcf76f155ced4ddcb4097134ff3c332f>
    <Argomento xmlns="8b3acf13-3a58-43b2-a29e-f23503de136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55C6CD0B9BF4DB2CA3009677D9668" ma:contentTypeVersion="17" ma:contentTypeDescription="Create a new document." ma:contentTypeScope="" ma:versionID="6361f2605a906a42d9630ca59d277a8b">
  <xsd:schema xmlns:xsd="http://www.w3.org/2001/XMLSchema" xmlns:xs="http://www.w3.org/2001/XMLSchema" xmlns:p="http://schemas.microsoft.com/office/2006/metadata/properties" xmlns:ns2="8b3acf13-3a58-43b2-a29e-f23503de136d" xmlns:ns3="21b72fd8-e7d0-49ac-9795-d1b0bc6b7e1c" targetNamespace="http://schemas.microsoft.com/office/2006/metadata/properties" ma:root="true" ma:fieldsID="ae4eb9e2c998b5efed80ec6126f835fa" ns2:_="" ns3:_="">
    <xsd:import namespace="8b3acf13-3a58-43b2-a29e-f23503de136d"/>
    <xsd:import namespace="21b72fd8-e7d0-49ac-9795-d1b0bc6b7e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Argoment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3acf13-3a58-43b2-a29e-f23503de13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f31c764-9f90-46cb-b927-e7c76de067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gomento" ma:index="24" nillable="true" ma:displayName="Argomento" ma:format="Dropdown" ma:internalName="Argoment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b72fd8-e7d0-49ac-9795-d1b0bc6b7e1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40603bf2-5c45-4900-ad6d-aa2e93470d68}" ma:internalName="TaxCatchAll" ma:showField="CatchAllData" ma:web="21b72fd8-e7d0-49ac-9795-d1b0bc6b7e1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C65656-B2D8-4C19-A873-091B25A521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66878A-54ED-4867-B478-72A29DC19B89}">
  <ds:schemaRefs>
    <ds:schemaRef ds:uri="http://schemas.microsoft.com/office/2006/metadata/properties"/>
    <ds:schemaRef ds:uri="http://schemas.microsoft.com/office/infopath/2007/PartnerControls"/>
    <ds:schemaRef ds:uri="21b72fd8-e7d0-49ac-9795-d1b0bc6b7e1c"/>
    <ds:schemaRef ds:uri="8b3acf13-3a58-43b2-a29e-f23503de136d"/>
  </ds:schemaRefs>
</ds:datastoreItem>
</file>

<file path=customXml/itemProps3.xml><?xml version="1.0" encoding="utf-8"?>
<ds:datastoreItem xmlns:ds="http://schemas.openxmlformats.org/officeDocument/2006/customXml" ds:itemID="{70468F63-B318-4D5F-A1DF-86BE98AC22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b3acf13-3a58-43b2-a29e-f23503de136d"/>
    <ds:schemaRef ds:uri="21b72fd8-e7d0-49ac-9795-d1b0bc6b7e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2183</TotalTime>
  <Words>4336</Words>
  <Application>Microsoft Office PowerPoint</Application>
  <PresentationFormat>Widescreen</PresentationFormat>
  <Paragraphs>427</Paragraphs>
  <Slides>38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4" baseType="lpstr">
      <vt:lpstr>Arial</vt:lpstr>
      <vt:lpstr>Calibri</vt:lpstr>
      <vt:lpstr>Consolas</vt:lpstr>
      <vt:lpstr>Neue Haas Grotesk Display Pro</vt:lpstr>
      <vt:lpstr>Neue Haas Grotesk Text Pro</vt:lpstr>
      <vt:lpstr>Intro</vt:lpstr>
      <vt:lpstr>Presentazione standard di PowerPoint</vt:lpstr>
      <vt:lpstr>Presentazione standard di PowerPoint</vt:lpstr>
      <vt:lpstr>LAB 1: Il Ciclo di Vita dei Container e la "Mortalità" dei Dati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LAB 2: La Persistenza dei Dati – Named Volumes vs Bind Mounts</vt:lpstr>
      <vt:lpstr>Presentazione standard di PowerPoint</vt:lpstr>
      <vt:lpstr>Presentazione standard di PowerPoint</vt:lpstr>
      <vt:lpstr>Presentazione standard di PowerPoint</vt:lpstr>
      <vt:lpstr>LAB 3: Il Networking Isolato – Comunicazione via DNS interno</vt:lpstr>
      <vt:lpstr>Presentazione standard di PowerPoint</vt:lpstr>
      <vt:lpstr>Presentazione standard di PowerPoint</vt:lpstr>
      <vt:lpstr>Presentazione standard di PowerPoint</vt:lpstr>
      <vt:lpstr>LAB 4: Scrittura di Dockerfile – Single Stage vs Multi-Stage Build (Java Enterprise)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LAB 5: Lo Stop "Gentile" vs "Brutale" e il comando Prune</vt:lpstr>
      <vt:lpstr>Presentazione standard di PowerPoint</vt:lpstr>
      <vt:lpstr>Presentazione standard di PowerPoint</vt:lpstr>
      <vt:lpstr>LAB 6: Riepilogo 1</vt:lpstr>
      <vt:lpstr>Presentazione standard di PowerPoint</vt:lpstr>
      <vt:lpstr>Presentazione standard di PowerPoint</vt:lpstr>
      <vt:lpstr>LAB 7: Riepilogo 2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Davide Grillo</dc:creator>
  <cp:lastModifiedBy>Mirko Onorato</cp:lastModifiedBy>
  <cp:revision>360</cp:revision>
  <dcterms:created xsi:type="dcterms:W3CDTF">2023-09-21T07:59:23Z</dcterms:created>
  <dcterms:modified xsi:type="dcterms:W3CDTF">2026-06-14T22:16:47Z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0x010100D3455C6CD0B9BF4DB2CA3009677D9668</vt:lpwstr>
  </property>
</Properties>
</file>