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17"/>
  </p:notesMasterIdLst>
  <p:handoutMasterIdLst>
    <p:handoutMasterId r:id="rId18"/>
  </p:handoutMasterIdLst>
  <p:sldIdLst>
    <p:sldId id="262" r:id="rId5"/>
    <p:sldId id="259" r:id="rId6"/>
    <p:sldId id="258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61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1FE2"/>
    <a:srgbClr val="0C0C0D"/>
    <a:srgbClr val="FFD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33" autoAdjust="0"/>
    <p:restoredTop sz="92907" autoAdjust="0"/>
  </p:normalViewPr>
  <p:slideViewPr>
    <p:cSldViewPr snapToGrid="0" showGuides="1">
      <p:cViewPr varScale="1">
        <p:scale>
          <a:sx n="105" d="100"/>
          <a:sy n="105" d="100"/>
        </p:scale>
        <p:origin x="414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56" d="100"/>
          <a:sy n="56" d="100"/>
        </p:scale>
        <p:origin x="190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8BF59EF6-0FF4-3C26-C2BB-DB4C8164691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A684938-E2E5-17C8-EF87-D39DC23A0CE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67D21-D55F-4A7B-94FF-7608FD989819}" type="datetimeFigureOut">
              <a:rPr lang="it-IT" smtClean="0"/>
              <a:t>13/06/2026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1588DC1-54E0-DA10-6330-B5B85E54BE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BF496F1-A8FC-84F6-A381-661BDD027C8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1F2323-8915-4474-89BB-0944B80755B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145869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0B2B73-14A8-482F-9803-A95CC73B5B34}" type="datetimeFigureOut">
              <a:rPr lang="it-IT" smtClean="0"/>
              <a:t>13/06/2026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FDE81-C331-4896-AC61-55381248B14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6805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7248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jp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pic>
        <p:nvPicPr>
          <p:cNvPr id="3" name="Logo">
            <a:extLst>
              <a:ext uri="{FF2B5EF4-FFF2-40B4-BE49-F238E27FC236}">
                <a16:creationId xmlns:a16="http://schemas.microsoft.com/office/drawing/2014/main" id="{4C834844-A2F7-AC9C-2087-6061FCF61E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38E5D1B6-A890-892D-9858-91BBCF4C4D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3160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olo della 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3BCE473-8FC3-9F4F-E292-BFC28ABE7B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00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498" b="7498"/>
          <a:stretch/>
        </p:blipFill>
        <p:spPr>
          <a:xfrm>
            <a:off x="8" y="4"/>
            <a:ext cx="12191984" cy="6857991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6FDB36-122C-6ED3-0E68-A0444075919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49604" y="2315869"/>
            <a:ext cx="2692791" cy="5580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j-ea"/>
                <a:cs typeface="+mj-cs"/>
              </a:defRPr>
            </a:lvl1pPr>
          </a:lstStyle>
          <a:p>
            <a:r>
              <a:rPr lang="it-IT" dirty="0"/>
              <a:t>Lezione 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0F8F589-6BFD-59A4-6E34-32CA9C30E5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3152912"/>
            <a:ext cx="10515600" cy="6728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TITOLO DELLA LEZIONE</a:t>
            </a:r>
          </a:p>
        </p:txBody>
      </p:sp>
      <p:sp>
        <p:nvSpPr>
          <p:cNvPr id="7" name="Autore">
            <a:extLst>
              <a:ext uri="{FF2B5EF4-FFF2-40B4-BE49-F238E27FC236}">
                <a16:creationId xmlns:a16="http://schemas.microsoft.com/office/drawing/2014/main" id="{21C9F551-AFE9-0973-2117-C6CBF8585A06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bg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C4425D4D-A67B-8DB9-9A03-E768C2FD3E3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lum bright="10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  <p:sp>
        <p:nvSpPr>
          <p:cNvPr id="13" name="Segnaposto numero diapositiva 6" hidden="1">
            <a:extLst>
              <a:ext uri="{FF2B5EF4-FFF2-40B4-BE49-F238E27FC236}">
                <a16:creationId xmlns:a16="http://schemas.microsoft.com/office/drawing/2014/main" id="{F8AAF250-B3FA-F808-9996-FA310B7EEA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4" name="object 2">
            <a:extLst>
              <a:ext uri="{FF2B5EF4-FFF2-40B4-BE49-F238E27FC236}">
                <a16:creationId xmlns:a16="http://schemas.microsoft.com/office/drawing/2014/main" id="{481FF4BB-6EC3-F2A7-6542-58D51086A02D}"/>
              </a:ext>
            </a:extLst>
          </p:cNvPr>
          <p:cNvPicPr preferRelativeResize="0"/>
          <p:nvPr userDrawn="1"/>
        </p:nvPicPr>
        <p:blipFill rotWithShape="1">
          <a:blip r:embed="rId6" cstate="print"/>
          <a:srcRect l="1386" t="187" r="342" b="95555"/>
          <a:stretch/>
        </p:blipFill>
        <p:spPr>
          <a:xfrm>
            <a:off x="0" y="0"/>
            <a:ext cx="12191992" cy="20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28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rgbClr val="171FE2"/>
                </a:solidFill>
                <a:latin typeface="Neue Haas Grotesk Text Pro" panose="020B0504020202020204" pitchFamily="34" charset="0"/>
              </a:defRPr>
            </a:lvl1pPr>
          </a:lstStyle>
          <a:p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Contenuto della lezione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rgbClr val="171F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562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aborato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5DB3A6F7-B730-F638-2762-1FD1042E5DD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DB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r>
              <a:rPr lang="it-IT" dirty="0"/>
              <a:t>Titolo del laboratorio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Traccia del laboratorio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Nome Cognome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784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1288546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736105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fondo">
            <a:extLst>
              <a:ext uri="{FF2B5EF4-FFF2-40B4-BE49-F238E27FC236}">
                <a16:creationId xmlns:a16="http://schemas.microsoft.com/office/drawing/2014/main" id="{0871CBC8-6163-D253-2648-0C5B2A35DA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7" name="bg object 16">
              <a:extLst>
                <a:ext uri="{FF2B5EF4-FFF2-40B4-BE49-F238E27FC236}">
                  <a16:creationId xmlns:a16="http://schemas.microsoft.com/office/drawing/2014/main" id="{D3B481F3-FDD2-E9B0-AAF0-6B05C97B7493}"/>
                </a:ext>
              </a:extLst>
            </p:cNvPr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8" name="Sfondo nero">
              <a:extLst>
                <a:ext uri="{FF2B5EF4-FFF2-40B4-BE49-F238E27FC236}">
                  <a16:creationId xmlns:a16="http://schemas.microsoft.com/office/drawing/2014/main" id="{2B2124EE-D2EC-EB26-C788-2D1671E2C0D4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6" name="Segnaposto numero diapositiva 5" hidden="1">
            <a:extLst>
              <a:ext uri="{FF2B5EF4-FFF2-40B4-BE49-F238E27FC236}">
                <a16:creationId xmlns:a16="http://schemas.microsoft.com/office/drawing/2014/main" id="{8BF62DA6-567D-9738-C9B4-B35130FB0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08AF4DDA-AF5C-9192-0A90-B2EE16B1979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315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1" r:id="rId2"/>
    <p:sldLayoutId id="2147483674" r:id="rId3"/>
    <p:sldLayoutId id="2147483692" r:id="rId4"/>
    <p:sldLayoutId id="2147483678" r:id="rId5"/>
    <p:sldLayoutId id="2147483694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9659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14AE908-95ED-7A3B-515A-275CA8318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2795046"/>
            <a:ext cx="10515600" cy="1445982"/>
          </a:xfrm>
        </p:spPr>
        <p:txBody>
          <a:bodyPr/>
          <a:lstStyle/>
          <a:p>
            <a:r>
              <a:rPr lang="it-IT" dirty="0"/>
              <a:t>Raccolta Docker Atomo</a:t>
            </a:r>
          </a:p>
          <a:p>
            <a:endParaRPr lang="it-IT" dirty="0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AC5512-E772-1D07-1956-6544F2732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05E91E-B103-4211-9892-B5CF4BF06646}" type="slidenum">
              <a:rPr lang="it-IT" smtClean="0">
                <a:solidFill>
                  <a:srgbClr val="0C0C0D"/>
                </a:solidFill>
              </a:rPr>
              <a:pPr/>
              <a:t>2</a:t>
            </a:fld>
            <a:endParaRPr lang="it-IT" dirty="0">
              <a:solidFill>
                <a:srgbClr val="0C0C0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79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C232A863-9AB2-F1DD-0EBE-01D055E0C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LAB 1: Il Ciclo di Vita dei Container e la "Mortalità" dei Dati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B7AE27A-7139-F647-C23C-B014C3A3B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Obiettivo</a:t>
            </a:r>
            <a:r>
              <a:rPr lang="it-IT" dirty="0"/>
              <a:t>: Dominare la CLI di Docker, comprendere la differenza tra i segnali di stop (SIGTERM vs SIGKILL) e toccare con mano la natura effimera dei container creando e distruggendo dati.</a:t>
            </a:r>
          </a:p>
          <a:p>
            <a:endParaRPr lang="it-IT" dirty="0"/>
          </a:p>
          <a:p>
            <a:r>
              <a:rPr lang="it-IT" b="1" dirty="0"/>
              <a:t>Traccia:</a:t>
            </a:r>
            <a:r>
              <a:rPr lang="it-IT" dirty="0"/>
              <a:t> L'azienda vi chiede di avviare tre server web isolati per testare tre versioni di un file HTML. Dovete scaricare l'immagine ufficiale di </a:t>
            </a:r>
            <a:r>
              <a:rPr lang="it-IT" dirty="0" err="1"/>
              <a:t>Nginx</a:t>
            </a:r>
            <a:r>
              <a:rPr lang="it-IT" dirty="0"/>
              <a:t>, avviarla in background su tre porte diverse e modificare una pagina interna. Successivamente, simulerete un crash distruttivo per capire dove vanno a finire le modifiche.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26178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ED170-517E-A7B3-61F9-49831DD74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50A020B-A937-BF7D-E1FC-BAE63DDA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1. Pulizia Iniziale ed Elenco della Flotta</a:t>
            </a:r>
          </a:p>
          <a:p>
            <a:r>
              <a:rPr lang="it-IT" dirty="0"/>
              <a:t>Prima di iniziare, facciamo tabula rasa di vecchi container residui:</a:t>
            </a:r>
          </a:p>
          <a:p>
            <a:r>
              <a:rPr lang="sv-SE" dirty="0">
                <a:solidFill>
                  <a:srgbClr val="171FE2"/>
                </a:solidFill>
                <a:latin typeface="Consolas" panose="020B0609020204030204" pitchFamily="49" charset="0"/>
              </a:rPr>
              <a:t>docker rm -f $(docker ps -aq)</a:t>
            </a:r>
          </a:p>
          <a:p>
            <a:r>
              <a:rPr lang="it-IT" b="1" dirty="0"/>
              <a:t>2. Avvio coordinato su porte diverse</a:t>
            </a:r>
          </a:p>
          <a:p>
            <a:r>
              <a:rPr lang="it-IT" dirty="0"/>
              <a:t>Avviamo tre istanze di </a:t>
            </a:r>
            <a:r>
              <a:rPr lang="it-IT" dirty="0" err="1"/>
              <a:t>Nginx</a:t>
            </a:r>
            <a:r>
              <a:rPr lang="it-IT" dirty="0"/>
              <a:t> mappando le porte del PC Windows (8081, 8082, 8083) sulla porta standard interna 80 di </a:t>
            </a:r>
            <a:r>
              <a:rPr lang="it-IT" dirty="0" err="1"/>
              <a:t>Nginx</a:t>
            </a:r>
            <a:r>
              <a:rPr lang="it-IT" dirty="0"/>
              <a:t>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web-alfa -p 8081:80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web-beta -p 8082:80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web-gamma -p 8083:80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b="1" dirty="0"/>
              <a:t>3. Il blocco del Terminale (Cosa succede se dimenticano il flag -d?)</a:t>
            </a:r>
          </a:p>
          <a:p>
            <a:r>
              <a:rPr lang="it-IT" dirty="0"/>
              <a:t>Fai eseguire questo comando senza il flag -d: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--name web-bloccato -p 8084:80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Cosa succede: Il terminale si "inchioda" e mostra i log in tempo reale di </a:t>
            </a:r>
            <a:r>
              <a:rPr lang="it-IT" dirty="0" err="1"/>
              <a:t>Nginx</a:t>
            </a:r>
            <a:r>
              <a:rPr lang="it-IT" dirty="0"/>
              <a:t>.</a:t>
            </a:r>
          </a:p>
          <a:p>
            <a:r>
              <a:rPr lang="it-IT" dirty="0"/>
              <a:t>Senza -d (</a:t>
            </a:r>
            <a:r>
              <a:rPr lang="it-IT" dirty="0" err="1"/>
              <a:t>Detached</a:t>
            </a:r>
            <a:r>
              <a:rPr lang="it-IT" dirty="0"/>
              <a:t>), il container gira in </a:t>
            </a:r>
            <a:r>
              <a:rPr lang="it-IT" dirty="0" err="1"/>
              <a:t>Foreground</a:t>
            </a:r>
            <a:r>
              <a:rPr lang="it-IT" dirty="0"/>
              <a:t>. </a:t>
            </a:r>
          </a:p>
          <a:p>
            <a:r>
              <a:rPr lang="it-IT" dirty="0">
                <a:solidFill>
                  <a:srgbClr val="171FE2"/>
                </a:solidFill>
              </a:rPr>
              <a:t>Premere CTRL + C (che però invierà un segnale di spegnimento al container).</a:t>
            </a:r>
            <a:endParaRPr lang="sv-SE" dirty="0">
              <a:solidFill>
                <a:srgbClr val="171FE2"/>
              </a:solidFill>
            </a:endParaRP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24584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5ACA7-900C-2ED8-3891-302CFDE84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A845CF70-F363-E597-AC17-2BEBEF0AA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4. Entriamo dentro il container a modificare il file (Senza Volumi)</a:t>
            </a:r>
          </a:p>
          <a:p>
            <a:r>
              <a:rPr lang="it-IT" dirty="0"/>
              <a:t>Entriamo nel file-system isolato del container web-alfa usando una sessione interattiva Bash/Sh: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docker exec -it web-alfa 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sh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Il prompt cambia (es. #). Siamo dentro Linux </a:t>
            </a:r>
            <a:r>
              <a:rPr lang="it-IT" dirty="0" err="1"/>
              <a:t>Nginx</a:t>
            </a:r>
            <a:r>
              <a:rPr lang="it-IT" dirty="0"/>
              <a:t>. Modifichiamo la pagina iniziale "Welcome to </a:t>
            </a:r>
            <a:r>
              <a:rPr lang="it-IT" dirty="0" err="1"/>
              <a:t>Nginx</a:t>
            </a:r>
            <a:r>
              <a:rPr lang="it-IT" dirty="0"/>
              <a:t>":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echo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"&lt;h1&gt;Proprietà di Mirko - Versione Alfa sbloccata! 🚀&lt;/h1&gt;" &gt; 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usr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/share/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/html/index.html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exit</a:t>
            </a:r>
          </a:p>
          <a:p>
            <a:r>
              <a:rPr lang="it-IT" i="1" dirty="0"/>
              <a:t>Verifica:</a:t>
            </a:r>
            <a:r>
              <a:rPr lang="it-IT" dirty="0"/>
              <a:t> Apri Chrome su http://localhost:8081. Vedrai la scritta personalizzata. Se vai su http://localhost:8082, vedrai la pagina standard. I due mondi sono isolati.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985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F3507-2CAB-86D6-A77D-1F7AABC8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F1C7866B-AE7A-D5B7-8829-1D56AFC70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5. Il Crash Test: Dimostrazione della natura effimera</a:t>
            </a:r>
          </a:p>
          <a:p>
            <a:r>
              <a:rPr lang="it-IT" dirty="0"/>
              <a:t>Ora simuliamo un crash distruttivo di web-alfa: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rm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-f web-alfa</a:t>
            </a:r>
          </a:p>
          <a:p>
            <a:r>
              <a:rPr lang="it-IT" dirty="0"/>
              <a:t>Rilanciamo immediatamente lo stesso identico container con lo stesso comando: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docker run -d --name web-alfa -p 8081:80 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en-US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Fai aggiornare Chrome su http://localhost:8081. </a:t>
            </a:r>
            <a:r>
              <a:rPr lang="it-IT" b="1" dirty="0"/>
              <a:t>La modifica è sparita ed è tornato il "Welcome to </a:t>
            </a:r>
            <a:r>
              <a:rPr lang="it-IT" b="1" dirty="0" err="1"/>
              <a:t>Nginx</a:t>
            </a:r>
            <a:r>
              <a:rPr lang="it-IT" b="1" dirty="0"/>
              <a:t>" standard.</a:t>
            </a:r>
          </a:p>
          <a:p>
            <a:r>
              <a:rPr lang="it-IT" i="1" dirty="0"/>
              <a:t>I container sono per definizione </a:t>
            </a:r>
            <a:r>
              <a:rPr lang="it-IT" b="1" i="1" dirty="0"/>
              <a:t>effimeri (</a:t>
            </a:r>
            <a:r>
              <a:rPr lang="it-IT" b="1" i="1" dirty="0" err="1"/>
              <a:t>stateless</a:t>
            </a:r>
            <a:r>
              <a:rPr lang="it-IT" b="1" i="1" dirty="0"/>
              <a:t>)</a:t>
            </a:r>
            <a:r>
              <a:rPr lang="it-IT" i="1" dirty="0"/>
              <a:t>. Quando un container viene cancellato, il suo </a:t>
            </a:r>
            <a:r>
              <a:rPr lang="it-IT" i="1" dirty="0" err="1"/>
              <a:t>Writable</a:t>
            </a:r>
            <a:r>
              <a:rPr lang="it-IT" i="1" dirty="0"/>
              <a:t> Layer (lo strato di scrittura temporaneo) viene polverizzato dal Docker </a:t>
            </a:r>
            <a:r>
              <a:rPr lang="it-IT" i="1" dirty="0" err="1"/>
              <a:t>Daemon</a:t>
            </a:r>
            <a:r>
              <a:rPr lang="it-IT" i="1" dirty="0"/>
              <a:t>. Modificare i file direttamente dentro un container funzionante è il reato più grave per un ingegnere </a:t>
            </a:r>
            <a:r>
              <a:rPr lang="it-IT" i="1" dirty="0" err="1"/>
              <a:t>DevOps</a:t>
            </a:r>
            <a:r>
              <a:rPr lang="it-IT" i="1" dirty="0"/>
              <a:t>: al primo riavvio o aggiornamento dell'immagine, i dati del cliente sono persi per sempre."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10015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7CA0E-79B9-97D9-7B9A-9861B995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186D7261-D932-68E6-8F66-CDE5A0415C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736544"/>
            <a:ext cx="9557362" cy="4803369"/>
          </a:xfrm>
        </p:spPr>
        <p:txBody>
          <a:bodyPr/>
          <a:lstStyle/>
          <a:p>
            <a:r>
              <a:rPr lang="it-IT" dirty="0"/>
              <a:t>Il </a:t>
            </a:r>
            <a:r>
              <a:rPr lang="it-IT" b="1" dirty="0" err="1"/>
              <a:t>writable</a:t>
            </a:r>
            <a:r>
              <a:rPr lang="it-IT" b="1" dirty="0"/>
              <a:t> </a:t>
            </a:r>
            <a:r>
              <a:rPr lang="it-IT" b="1" dirty="0" err="1"/>
              <a:t>layer</a:t>
            </a:r>
            <a:r>
              <a:rPr lang="it-IT" dirty="0"/>
              <a:t> (o </a:t>
            </a:r>
            <a:r>
              <a:rPr lang="it-IT" i="1" dirty="0"/>
              <a:t>container </a:t>
            </a:r>
            <a:r>
              <a:rPr lang="it-IT" i="1" dirty="0" err="1"/>
              <a:t>layer</a:t>
            </a:r>
            <a:r>
              <a:rPr lang="it-IT" dirty="0"/>
              <a:t>) è il livello scrivibile che Docker aggiunge sopra i </a:t>
            </a:r>
            <a:r>
              <a:rPr lang="it-IT" dirty="0" err="1"/>
              <a:t>layer</a:t>
            </a:r>
            <a:r>
              <a:rPr lang="it-IT" dirty="0"/>
              <a:t> immutabili dell'immagine quando avvii un container.</a:t>
            </a:r>
          </a:p>
          <a:p>
            <a:r>
              <a:rPr lang="it-IT" b="1" dirty="0"/>
              <a:t>Come sono organizzati i </a:t>
            </a:r>
            <a:r>
              <a:rPr lang="it-IT" b="1" dirty="0" err="1"/>
              <a:t>layer</a:t>
            </a:r>
            <a:endParaRPr lang="it-IT" b="1" dirty="0"/>
          </a:p>
          <a:p>
            <a:r>
              <a:rPr lang="it-IT" dirty="0"/>
              <a:t>Un'immagine Docker è composta da più </a:t>
            </a:r>
            <a:r>
              <a:rPr lang="it-IT" dirty="0" err="1"/>
              <a:t>layer</a:t>
            </a:r>
            <a:r>
              <a:rPr lang="it-IT" dirty="0"/>
              <a:t> </a:t>
            </a:r>
            <a:r>
              <a:rPr lang="it-IT" b="1" dirty="0" err="1"/>
              <a:t>read-only</a:t>
            </a:r>
            <a:r>
              <a:rPr lang="it-IT" dirty="0"/>
              <a:t>:</a:t>
            </a:r>
          </a:p>
          <a:p>
            <a:r>
              <a:rPr lang="en-US" dirty="0"/>
              <a:t>Container</a:t>
            </a:r>
          </a:p>
          <a:p>
            <a:r>
              <a:rPr lang="en-US" dirty="0"/>
              <a:t>└── Writable Layer (</a:t>
            </a:r>
            <a:r>
              <a:rPr lang="en-US" dirty="0" err="1"/>
              <a:t>scrivibile</a:t>
            </a:r>
            <a:r>
              <a:rPr lang="en-US" dirty="0"/>
              <a:t>)</a:t>
            </a:r>
          </a:p>
          <a:p>
            <a:r>
              <a:rPr lang="en-US" dirty="0"/>
              <a:t>    ├── Layer </a:t>
            </a:r>
            <a:r>
              <a:rPr lang="en-US" dirty="0" err="1"/>
              <a:t>immagine</a:t>
            </a:r>
            <a:r>
              <a:rPr lang="en-US" dirty="0"/>
              <a:t> 3 (read-only)</a:t>
            </a:r>
          </a:p>
          <a:p>
            <a:r>
              <a:rPr lang="en-US" dirty="0"/>
              <a:t>    ├── Layer </a:t>
            </a:r>
            <a:r>
              <a:rPr lang="en-US" dirty="0" err="1"/>
              <a:t>immagine</a:t>
            </a:r>
            <a:r>
              <a:rPr lang="en-US" dirty="0"/>
              <a:t> 2 (read-only)</a:t>
            </a:r>
          </a:p>
          <a:p>
            <a:r>
              <a:rPr lang="en-US" dirty="0"/>
              <a:t>    └── Layer </a:t>
            </a:r>
            <a:r>
              <a:rPr lang="en-US" dirty="0" err="1"/>
              <a:t>immagine</a:t>
            </a:r>
            <a:r>
              <a:rPr lang="en-US" dirty="0"/>
              <a:t> 1 (read-only)</a:t>
            </a:r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Docker non modifica mai l'immagine originale, ma usa il meccanismo di </a:t>
            </a:r>
            <a:r>
              <a:rPr lang="it-IT" b="1" dirty="0">
                <a:solidFill>
                  <a:srgbClr val="171FE2"/>
                </a:solidFill>
              </a:rPr>
              <a:t>Copy-on-Write (</a:t>
            </a:r>
            <a:r>
              <a:rPr lang="it-IT" b="1" dirty="0" err="1">
                <a:solidFill>
                  <a:srgbClr val="171FE2"/>
                </a:solidFill>
              </a:rPr>
              <a:t>CoW</a:t>
            </a:r>
            <a:r>
              <a:rPr lang="it-IT" b="1" dirty="0">
                <a:solidFill>
                  <a:srgbClr val="171FE2"/>
                </a:solidFill>
              </a:rPr>
              <a:t>)</a:t>
            </a:r>
            <a:r>
              <a:rPr lang="it-IT" dirty="0">
                <a:solidFill>
                  <a:srgbClr val="171FE2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il file originale rimane nel </a:t>
            </a:r>
            <a:r>
              <a:rPr lang="it-IT" dirty="0" err="1"/>
              <a:t>layer</a:t>
            </a:r>
            <a:r>
              <a:rPr lang="it-IT" dirty="0"/>
              <a:t> </a:t>
            </a:r>
            <a:r>
              <a:rPr lang="it-IT" dirty="0" err="1"/>
              <a:t>read-only</a:t>
            </a:r>
            <a:r>
              <a:rPr lang="it-IT" dirty="0"/>
              <a:t>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viene copiata una versione nel </a:t>
            </a:r>
            <a:r>
              <a:rPr lang="it-IT" dirty="0" err="1"/>
              <a:t>writable</a:t>
            </a:r>
            <a:r>
              <a:rPr lang="it-IT" dirty="0"/>
              <a:t> </a:t>
            </a:r>
            <a:r>
              <a:rPr lang="it-IT" dirty="0" err="1"/>
              <a:t>layer</a:t>
            </a:r>
            <a:r>
              <a:rPr lang="it-IT" dirty="0"/>
              <a:t>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la modifica viene applicata alla copia;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da quel momento il container vede la versione modificata.</a:t>
            </a:r>
          </a:p>
          <a:p>
            <a:r>
              <a:rPr lang="it-IT" dirty="0"/>
              <a:t>Docker non può cancellare il file dal </a:t>
            </a:r>
            <a:r>
              <a:rPr lang="it-IT" dirty="0" err="1"/>
              <a:t>layer</a:t>
            </a:r>
            <a:r>
              <a:rPr lang="it-IT" dirty="0"/>
              <a:t> </a:t>
            </a:r>
            <a:r>
              <a:rPr lang="it-IT" dirty="0" err="1"/>
              <a:t>read-only</a:t>
            </a:r>
            <a:r>
              <a:rPr lang="it-IT" dirty="0"/>
              <a:t>.</a:t>
            </a:r>
          </a:p>
          <a:p>
            <a:r>
              <a:rPr lang="it-IT" dirty="0">
                <a:solidFill>
                  <a:srgbClr val="171FE2"/>
                </a:solidFill>
              </a:rPr>
              <a:t>Crea invece una speciale entry chiamata </a:t>
            </a:r>
            <a:r>
              <a:rPr lang="it-IT" b="1" dirty="0" err="1">
                <a:solidFill>
                  <a:srgbClr val="171FE2"/>
                </a:solidFill>
              </a:rPr>
              <a:t>whiteout</a:t>
            </a:r>
            <a:r>
              <a:rPr lang="it-IT" b="1" dirty="0">
                <a:solidFill>
                  <a:srgbClr val="171FE2"/>
                </a:solidFill>
              </a:rPr>
              <a:t> file</a:t>
            </a:r>
            <a:r>
              <a:rPr lang="it-IT" dirty="0">
                <a:solidFill>
                  <a:srgbClr val="171FE2"/>
                </a:solidFill>
              </a:rPr>
              <a:t> nel </a:t>
            </a:r>
            <a:r>
              <a:rPr lang="it-IT" dirty="0" err="1">
                <a:solidFill>
                  <a:srgbClr val="171FE2"/>
                </a:solidFill>
              </a:rPr>
              <a:t>writable</a:t>
            </a:r>
            <a:r>
              <a:rPr lang="it-IT" dirty="0">
                <a:solidFill>
                  <a:srgbClr val="171FE2"/>
                </a:solidFill>
              </a:rPr>
              <a:t>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che "nasconde" il file originale.</a:t>
            </a:r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669689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189F-560D-F35F-1F81-A828E2BD1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5DCEDECC-6DE1-23A1-33D9-6F55B6F78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LAB 2: La Persistenza dei Dati – </a:t>
            </a:r>
            <a:r>
              <a:rPr lang="it-IT" dirty="0" err="1"/>
              <a:t>Named</a:t>
            </a:r>
            <a:r>
              <a:rPr lang="it-IT" dirty="0"/>
              <a:t> </a:t>
            </a:r>
            <a:r>
              <a:rPr lang="it-IT" dirty="0" err="1"/>
              <a:t>Volumes</a:t>
            </a:r>
            <a:r>
              <a:rPr lang="it-IT" dirty="0"/>
              <a:t> vs </a:t>
            </a:r>
            <a:r>
              <a:rPr lang="it-IT" dirty="0" err="1"/>
              <a:t>Bind</a:t>
            </a:r>
            <a:r>
              <a:rPr lang="it-IT" dirty="0"/>
              <a:t> </a:t>
            </a:r>
            <a:r>
              <a:rPr lang="it-IT" dirty="0" err="1"/>
              <a:t>Mounts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29B8ACD-8605-72B1-339B-6D9D8489A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Obiettivo: Risolvere la perdita dei dati del LAB 1. Padroneggiare i due sistemi di persistenza di Docker, capendo quando usare i Volumi (gestiti da Docker) e quando i </a:t>
            </a:r>
            <a:r>
              <a:rPr lang="it-IT" dirty="0" err="1"/>
              <a:t>Bind</a:t>
            </a:r>
            <a:r>
              <a:rPr lang="it-IT" dirty="0"/>
              <a:t> </a:t>
            </a:r>
            <a:r>
              <a:rPr lang="it-IT" dirty="0" err="1"/>
              <a:t>Mounts</a:t>
            </a:r>
            <a:r>
              <a:rPr lang="it-IT" dirty="0"/>
              <a:t> (cartelle di Windows).</a:t>
            </a:r>
          </a:p>
          <a:p>
            <a:r>
              <a:rPr lang="it-IT" b="1" dirty="0"/>
              <a:t>Traccia:</a:t>
            </a:r>
            <a:r>
              <a:rPr lang="it-IT" dirty="0"/>
              <a:t> Il vostro cliente non vuole più perdere i dati del sito in caso di crash. Dovete configurare due strategie: un </a:t>
            </a:r>
            <a:r>
              <a:rPr lang="it-IT" b="1" dirty="0" err="1"/>
              <a:t>Named</a:t>
            </a:r>
            <a:r>
              <a:rPr lang="it-IT" b="1" dirty="0"/>
              <a:t> Volume</a:t>
            </a:r>
            <a:r>
              <a:rPr lang="it-IT" dirty="0"/>
              <a:t> per i file di log di produzione e un </a:t>
            </a:r>
            <a:r>
              <a:rPr lang="it-IT" b="1" dirty="0" err="1"/>
              <a:t>Bind</a:t>
            </a:r>
            <a:r>
              <a:rPr lang="it-IT" b="1" dirty="0"/>
              <a:t> Mount</a:t>
            </a:r>
            <a:r>
              <a:rPr lang="it-IT" dirty="0"/>
              <a:t> per mappare una cartella del vostro Desktop Windows dentro il container, permettendovi di modificare il codice HTML da VS Code senza riavviare nulla.</a:t>
            </a:r>
          </a:p>
        </p:txBody>
      </p:sp>
    </p:spTree>
    <p:extLst>
      <p:ext uri="{BB962C8B-B14F-4D97-AF65-F5344CB8AC3E}">
        <p14:creationId xmlns:p14="http://schemas.microsoft.com/office/powerpoint/2010/main" val="53951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8A7B9-DB08-8126-7289-446150F0C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350EB89-609C-8704-99EC-57DF51844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PARTE 1: La via Enterprise – Il </a:t>
            </a:r>
            <a:r>
              <a:rPr lang="it-IT" b="1" dirty="0" err="1"/>
              <a:t>Named</a:t>
            </a:r>
            <a:r>
              <a:rPr lang="it-IT" b="1" dirty="0"/>
              <a:t> Volume</a:t>
            </a:r>
          </a:p>
          <a:p>
            <a:r>
              <a:rPr lang="it-IT" dirty="0"/>
              <a:t>Creiamo uno spazio di archiviazione sicuro gestito interamente dal Docker </a:t>
            </a:r>
            <a:r>
              <a:rPr lang="it-IT" dirty="0" err="1"/>
              <a:t>Daemon</a:t>
            </a:r>
            <a:r>
              <a:rPr lang="it-IT" dirty="0"/>
              <a:t>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volume </a:t>
            </a:r>
            <a:r>
              <a:rPr lang="it-IT" dirty="0">
                <a:solidFill>
                  <a:srgbClr val="FF0000"/>
                </a:solidFill>
                <a:latin typeface="Consolas" panose="020B0609020204030204" pitchFamily="49" charset="0"/>
              </a:rPr>
              <a:t>create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dati-persistenti-web</a:t>
            </a:r>
          </a:p>
          <a:p>
            <a:r>
              <a:rPr lang="it-IT" dirty="0"/>
              <a:t>Ispezioniamo dove Docker nasconde questo volume: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volume </a:t>
            </a:r>
            <a:r>
              <a:rPr lang="it-IT" dirty="0" err="1">
                <a:solidFill>
                  <a:srgbClr val="FF0000"/>
                </a:solidFill>
                <a:latin typeface="Consolas" panose="020B0609020204030204" pitchFamily="49" charset="0"/>
              </a:rPr>
              <a:t>inspect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dati-persistenti-web</a:t>
            </a:r>
          </a:p>
          <a:p>
            <a:r>
              <a:rPr lang="it-IT" dirty="0"/>
              <a:t>Sotto la voce "</a:t>
            </a:r>
            <a:r>
              <a:rPr lang="it-IT" dirty="0" err="1"/>
              <a:t>Mountpoint</a:t>
            </a:r>
            <a:r>
              <a:rPr lang="it-IT" dirty="0"/>
              <a:t>", vedremo un percorso Linux (es. /var/</a:t>
            </a:r>
            <a:r>
              <a:rPr lang="it-IT" dirty="0" err="1"/>
              <a:t>lib</a:t>
            </a:r>
            <a:r>
              <a:rPr lang="it-IT" dirty="0"/>
              <a:t>/</a:t>
            </a:r>
            <a:r>
              <a:rPr lang="it-IT" dirty="0" err="1"/>
              <a:t>docker</a:t>
            </a:r>
            <a:r>
              <a:rPr lang="it-IT" dirty="0"/>
              <a:t>/</a:t>
            </a:r>
            <a:r>
              <a:rPr lang="it-IT" dirty="0" err="1"/>
              <a:t>volumes</a:t>
            </a:r>
            <a:r>
              <a:rPr lang="it-IT" dirty="0"/>
              <a:t>/...). Su Windows quel percorso si trova dentro la macchina virtuale nascosta di WSL2, non raggiungibile.</a:t>
            </a:r>
          </a:p>
          <a:p>
            <a:r>
              <a:rPr lang="it-IT" dirty="0"/>
              <a:t>Avviamo un nuovo container </a:t>
            </a:r>
            <a:r>
              <a:rPr lang="it-IT" dirty="0" err="1"/>
              <a:t>Nginx</a:t>
            </a:r>
            <a:r>
              <a:rPr lang="it-IT" dirty="0"/>
              <a:t> agganciando questo volume sulla cartella dei dati di </a:t>
            </a:r>
            <a:r>
              <a:rPr lang="it-IT" dirty="0" err="1"/>
              <a:t>Nginx</a:t>
            </a:r>
            <a:r>
              <a:rPr lang="it-IT" dirty="0"/>
              <a:t> (:/</a:t>
            </a:r>
            <a:r>
              <a:rPr lang="it-IT" dirty="0" err="1"/>
              <a:t>usr</a:t>
            </a:r>
            <a:r>
              <a:rPr lang="it-IT" dirty="0"/>
              <a:t>/share/</a:t>
            </a:r>
            <a:r>
              <a:rPr lang="it-IT" dirty="0" err="1"/>
              <a:t>nginx</a:t>
            </a:r>
            <a:r>
              <a:rPr lang="it-IT" dirty="0"/>
              <a:t>/html):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web-sicuro -p 8085:80 -v dati-persistenti-web:/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usr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/share/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/html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7049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9CB2B-9250-B2DD-021A-08529904C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CFF19BA8-7E1C-A908-FB0A-91996B37C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Scriviamo nel file index.html di </a:t>
            </a:r>
            <a:r>
              <a:rPr lang="it-IT" dirty="0" err="1"/>
              <a:t>Nginx</a:t>
            </a:r>
            <a:r>
              <a:rPr lang="it-IT" dirty="0"/>
              <a:t>, distruggiamo il container e verifichiamo la persistenza: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exec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it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web-sicuro sh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echo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"Ciao a tutti!!!" &gt; 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usr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/share/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/html/index.html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exit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# Distruggiamo brutalmente il container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rm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-f web-sicuro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# Lo ricreiamo agganciando lo stesso volume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web-sicuro -p 8085:80 -v dati-persistenti-web:/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usr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/share/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/html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i="1" dirty="0"/>
              <a:t>Verifica:</a:t>
            </a:r>
            <a:r>
              <a:rPr lang="it-IT" dirty="0"/>
              <a:t> Su http://localhost:8085 la scritta c'è ancora! Il volume è sopravvissuto alla morte del container.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4744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9149C-F425-A5B8-76DF-7CB74667D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EA546327-02BB-6CCB-54DE-6709D0930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PARTE 2: </a:t>
            </a:r>
            <a:r>
              <a:rPr lang="it-IT" dirty="0"/>
              <a:t>La via dello Sviluppatore – Il </a:t>
            </a:r>
            <a:r>
              <a:rPr lang="it-IT" dirty="0" err="1"/>
              <a:t>Bind</a:t>
            </a:r>
            <a:r>
              <a:rPr lang="it-IT" dirty="0"/>
              <a:t> Mount</a:t>
            </a:r>
          </a:p>
          <a:p>
            <a:r>
              <a:rPr lang="it-IT" dirty="0"/>
              <a:t>Creiamo una cartella sul Desktop Windows chiamata sito-web e dentro creiamo un file index.html con scritto: &lt;h1&gt;Sito in Sviluppo da Windows! 💻&lt;/h1&gt;.</a:t>
            </a:r>
          </a:p>
          <a:p>
            <a:r>
              <a:rPr lang="it-IT" b="1" dirty="0"/>
              <a:t>Ora colleghiamo direttamente la cartella fisica di Windows dentro il container</a:t>
            </a:r>
            <a:r>
              <a:rPr lang="it-IT" dirty="0"/>
              <a:t>. </a:t>
            </a:r>
          </a:p>
          <a:p>
            <a:r>
              <a:rPr lang="it-IT" dirty="0"/>
              <a:t>Spostiamoci da terminale sul Desktop: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cd C:\Users\mirko\Desktop\sito-web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web-developer -p 8086:80 -v ${PWD}:/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usr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/share/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/html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i="1" dirty="0"/>
              <a:t>Nota tecnica per te:</a:t>
            </a:r>
            <a:r>
              <a:rPr lang="it-IT" dirty="0"/>
              <a:t> Il flag -v ${PWD}:... prende la cartella corrente e la proietta nel container.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In alternativa: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web-developer -p 8086:80 -v C:\Users\mirko\Desktop\sito-web:/usr/share/nginx/html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In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/>
              <a:t>questo modo le modifiche di codice fatte nella cartella di Windows si presentano nel container senza doverlo riavviare.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226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E02355-4941-9C10-CA1D-649F04DB5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pc="0" dirty="0">
                <a:latin typeface="Neue Haas Grotesk Text Pro" panose="020B0504020202020204" pitchFamily="34" charset="0"/>
              </a:rPr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3003246572"/>
      </p:ext>
    </p:extLst>
  </p:cSld>
  <p:clrMapOvr>
    <a:masterClrMapping/>
  </p:clrMapOvr>
</p:sld>
</file>

<file path=ppt/theme/theme1.xml><?xml version="1.0" encoding="utf-8"?>
<a:theme xmlns:a="http://schemas.openxmlformats.org/drawingml/2006/main" name="Intr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455C6CD0B9BF4DB2CA3009677D9668" ma:contentTypeVersion="17" ma:contentTypeDescription="Create a new document." ma:contentTypeScope="" ma:versionID="6361f2605a906a42d9630ca59d277a8b">
  <xsd:schema xmlns:xsd="http://www.w3.org/2001/XMLSchema" xmlns:xs="http://www.w3.org/2001/XMLSchema" xmlns:p="http://schemas.microsoft.com/office/2006/metadata/properties" xmlns:ns2="8b3acf13-3a58-43b2-a29e-f23503de136d" xmlns:ns3="21b72fd8-e7d0-49ac-9795-d1b0bc6b7e1c" targetNamespace="http://schemas.microsoft.com/office/2006/metadata/properties" ma:root="true" ma:fieldsID="ae4eb9e2c998b5efed80ec6126f835fa" ns2:_="" ns3:_="">
    <xsd:import namespace="8b3acf13-3a58-43b2-a29e-f23503de136d"/>
    <xsd:import namespace="21b72fd8-e7d0-49ac-9795-d1b0bc6b7e1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Argomento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3acf13-3a58-43b2-a29e-f23503de13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6f31c764-9f90-46cb-b927-e7c76de067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gomento" ma:index="24" nillable="true" ma:displayName="Argomento" ma:format="Dropdown" ma:internalName="Argomento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b72fd8-e7d0-49ac-9795-d1b0bc6b7e1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40603bf2-5c45-4900-ad6d-aa2e93470d68}" ma:internalName="TaxCatchAll" ma:showField="CatchAllData" ma:web="21b72fd8-e7d0-49ac-9795-d1b0bc6b7e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1b72fd8-e7d0-49ac-9795-d1b0bc6b7e1c" xsi:nil="true"/>
    <lcf76f155ced4ddcb4097134ff3c332f xmlns="8b3acf13-3a58-43b2-a29e-f23503de136d">
      <Terms xmlns="http://schemas.microsoft.com/office/infopath/2007/PartnerControls"/>
    </lcf76f155ced4ddcb4097134ff3c332f>
    <Argomento xmlns="8b3acf13-3a58-43b2-a29e-f23503de136d" xsi:nil="true"/>
  </documentManagement>
</p:properties>
</file>

<file path=customXml/itemProps1.xml><?xml version="1.0" encoding="utf-8"?>
<ds:datastoreItem xmlns:ds="http://schemas.openxmlformats.org/officeDocument/2006/customXml" ds:itemID="{70468F63-B318-4D5F-A1DF-86BE98AC22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b3acf13-3a58-43b2-a29e-f23503de136d"/>
    <ds:schemaRef ds:uri="21b72fd8-e7d0-49ac-9795-d1b0bc6b7e1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C65656-B2D8-4C19-A873-091B25A5212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66878A-54ED-4867-B478-72A29DC19B89}">
  <ds:schemaRefs>
    <ds:schemaRef ds:uri="http://schemas.microsoft.com/office/2006/metadata/properties"/>
    <ds:schemaRef ds:uri="http://schemas.microsoft.com/office/infopath/2007/PartnerControls"/>
    <ds:schemaRef ds:uri="21b72fd8-e7d0-49ac-9795-d1b0bc6b7e1c"/>
    <ds:schemaRef ds:uri="8b3acf13-3a58-43b2-a29e-f23503de136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1482</TotalTime>
  <Words>1224</Words>
  <Application>Microsoft Office PowerPoint</Application>
  <PresentationFormat>Widescreen</PresentationFormat>
  <Paragraphs>84</Paragraphs>
  <Slides>12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8" baseType="lpstr">
      <vt:lpstr>Arial</vt:lpstr>
      <vt:lpstr>Calibri</vt:lpstr>
      <vt:lpstr>Consolas</vt:lpstr>
      <vt:lpstr>Neue Haas Grotesk Display Pro</vt:lpstr>
      <vt:lpstr>Neue Haas Grotesk Text Pro</vt:lpstr>
      <vt:lpstr>Intro</vt:lpstr>
      <vt:lpstr>Presentazione standard di PowerPoint</vt:lpstr>
      <vt:lpstr>Presentazione standard di PowerPoint</vt:lpstr>
      <vt:lpstr>LAB 1: Il Ciclo di Vita dei Container e la "Mortalità" dei Dati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LAB 2: La Persistenza dei Dati – Named Volumes vs Bind Mounts</vt:lpstr>
      <vt:lpstr>Presentazione standard di PowerPoint</vt:lpstr>
      <vt:lpstr>Presentazione standard di PowerPoint</vt:lpstr>
      <vt:lpstr>Presentazione standard di PowerPoint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Davide Grillo</dc:creator>
  <cp:lastModifiedBy>Mirko Onorato</cp:lastModifiedBy>
  <cp:revision>242</cp:revision>
  <dcterms:created xsi:type="dcterms:W3CDTF">2023-09-21T07:59:23Z</dcterms:created>
  <dcterms:modified xsi:type="dcterms:W3CDTF">2026-06-13T22:19:46Z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0x010100D3455C6CD0B9BF4DB2CA3009677D9668</vt:lpwstr>
  </property>
</Properties>
</file>